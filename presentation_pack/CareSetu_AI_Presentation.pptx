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 – 0:35 (35 sec)</a:t>
            </a:r>
          </a:p>
          <a:p/>
          <a:p>
            <a:r>
              <a:t>LIVE APPLICATION SCREEN: Title Slide (CareSetu AI Deck)</a:t>
            </a:r>
          </a:p>
          <a:p>
            <a:r>
              <a:t>WHAT TO POINT AT: Point to the three core tenets: Zero-Mutation AI, Deterministic Urgency, Native ServiceNow Architecture.</a:t>
            </a:r>
          </a:p>
          <a:p/>
          <a:p>
            <a:r>
              <a:t>SUGGESTED NARRATION:</a:t>
            </a:r>
          </a:p>
          <a:p>
            <a:r>
              <a:t>Judges, welcome to CareSetu AI. 'CareSetu' translates to 'The Care Bridge'. Today we are presenting a production-ready, scoped ServiceNow application designed to solve one of healthcare's most pervasive, costly problems: the hours patients spend trapped in hospital beds after they have already been clinically cleared to go home. We do this not with black-box AI, but through deterministic operational orchestration, grounded AI briefing, and strictly human-approved execution.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0:35 – 1:20 (45 sec)</a:t>
            </a:r>
          </a:p>
          <a:p/>
          <a:p>
            <a:r>
              <a:t>LIVE APPLICATION SCREEN: Personal Story Slide</a:t>
            </a:r>
          </a:p>
          <a:p>
            <a:r>
              <a:t>WHAT TO POINT AT: Point to the contrast between medical sign-off at 10 AM vs. physical departure at 6 PM.</a:t>
            </a:r>
          </a:p>
          <a:p/>
          <a:p>
            <a:r>
              <a:t>SUGGESTED NARRATION:</a:t>
            </a:r>
          </a:p>
          <a:p>
            <a:r>
              <a:t>This project started from a deeply personal experience. A few months ago, my grandfather, my Nanaji, had open-heart surgery. His clinical care was world-class. At 10:00 AM, his surgeon signed off and said he was ready to go home. But Nanaji didn't leave until 6:00 PM. For eight hours, an elderly heart surgery patient sat in a hallway chair waiting. Why? Because the TPA pre-authorization sat unreviewed, pharmacy paperwork stalled, and nursing handoff had no tracking. Downstairs, emergency patients waited for that very bed. That is why we built CareSetu 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1:20 – 1:55 (35 sec)</a:t>
            </a:r>
          </a:p>
          <a:p/>
          <a:p>
            <a:r>
              <a:t>LIVE APPLICATION SCREEN: Problem Statement Slide</a:t>
            </a:r>
          </a:p>
          <a:p>
            <a:r>
              <a:t>WHAT TO POINT AT: Highlight the three cards: Department Silos, Invisible Blockers, and Cascading Gridlock.</a:t>
            </a:r>
          </a:p>
          <a:p/>
          <a:p>
            <a:r>
              <a:t>SUGGESTED NARRATION:</a:t>
            </a:r>
          </a:p>
          <a:p>
            <a:r>
              <a:t>This isn't just Nanaji's hospital. It is virtually every major medical center. Inpatient discharge is an operational black box. When a clinical clearance happens, at least four separate operational tracks must align: insurance pre-auth, pharmacy delivery, transport dispatch, and shift handoffs. Today, these operate in complete isolation. Nobody owns the dependency clock, nobody chases unacknowledged handoffs, and bed turnover velocity drops by 30 to 40 percent.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1:55 – 2:35 (40 sec)</a:t>
            </a:r>
          </a:p>
          <a:p/>
          <a:p>
            <a:r>
              <a:t>LIVE APPLICATION SCREEN: Solution Principles Slide</a:t>
            </a:r>
          </a:p>
          <a:p>
            <a:r>
              <a:t>WHAT TO POINT AT: Point to Pillar 3 (Fix It For Me) and emphasize the human-approval boundary.</a:t>
            </a:r>
          </a:p>
          <a:p/>
          <a:p>
            <a:r>
              <a:t>SUGGESTED NARRATION:</a:t>
            </a:r>
          </a:p>
          <a:p>
            <a:r>
              <a:t>CareSetu AI solves this by deploying ServiceNow as the central operational nerve center. Our design rests on four pillars: First, Explainable Deterministic Urgency — no hallucinated risk numbers, but an exact 0 to 100 formula. Second, Grounded AI Briefings — natural language status grounded directly in live scoped tables. Third, 'Fix It For Me' — our signature human-approved action lifecycle where the AI proposes a solution, but an authorized human must approve before any database mutation occurs. And fourth, Autonomous Schedulers that chase insurance cases and shift handoffs before deadlines breach.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2:35 – 3:15 (40 sec)</a:t>
            </a:r>
          </a:p>
          <a:p/>
          <a:p>
            <a:r>
              <a:t>LIVE APPLICATION SCREEN: Architecture Overview Diagram (architecture_overview.png)</a:t>
            </a:r>
          </a:p>
          <a:p>
            <a:r>
              <a:t>WHAT TO POINT AT: Point from top (React UI Page) down through Scoped REST APIs to the Deterministic Engines and Scoped Tables.</a:t>
            </a:r>
          </a:p>
          <a:p/>
          <a:p>
            <a:r>
              <a:t>SUGGESTED NARRATION:</a:t>
            </a:r>
          </a:p>
          <a:p>
            <a:r>
              <a:t>Let's look at our architecture. The entire system is packaged in the scoped application 'x_caresetu_ai'. At the presentation tier, we host a responsive React 18 Single Page Application inside a ServiceNow UI Page. The client communicates exclusively through Scoped Scripted REST APIs guarded by ServiceNow Role-Based Access Control and ACLs. Beneath that sit six deterministic Script Includes: OperationalRiskEngine, DischargePredictionEngine, HandoffEngine, TpaChaseEngine, AICoordinatorEngine, and ActionExecutionEngine. All persistence is managed in eight scoped tables, synchronized asynchronously via Business Rules.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3:15 – 3:55 (40 sec)</a:t>
            </a:r>
          </a:p>
          <a:p/>
          <a:p>
            <a:r>
              <a:t>LIVE APPLICATION SCREEN: Risk vs Prediction Diagram (risk_vs_prediction.png)</a:t>
            </a:r>
          </a:p>
          <a:p>
            <a:r>
              <a:t>WHAT TO POINT AT: Point to Left Column (0-100 Risk Rules) vs Right Column (Additive Delay Minutes).</a:t>
            </a:r>
          </a:p>
          <a:p/>
          <a:p>
            <a:r>
              <a:t>SUGGESTED NARRATION:</a:t>
            </a:r>
          </a:p>
          <a:p>
            <a:r>
              <a:t>A critical architectural achievement in CareSetu AI is the clean separation between Risk Scoring and Discharge Prediction. OperationalRiskEngine calculates an integer from 0 to 100 based on exact mathematical rules: past due time, overdue tasks, pending milestones, unacknowledged handoffs, and open blockers. It drives our four urgency tiers: Normal, Medium, High, and Critical. In contrast, DischargePredictionEngine is an additive delay clock in minutes with category deduplication to prevent double-counting. An encounter can have a High Risk score while having a short 30-minute delay, or vice versa. Keeping urgency distinct from schedule delay is essential for safe triage.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3:55 – 4:40 (45 sec)</a:t>
            </a:r>
          </a:p>
          <a:p/>
          <a:p>
            <a:r>
              <a:t>LIVE APPLICATION SCREEN: Live Command Center UI Page (x_caresetu_ai_command_center.do)</a:t>
            </a:r>
          </a:p>
          <a:p>
            <a:r>
              <a:t>WHAT TO POINT AT: Point to Bed 304 High Urgency badge, top metric counters, and the pipeline stage columns.</a:t>
            </a:r>
          </a:p>
          <a:p/>
          <a:p>
            <a:r>
              <a:t>SUGGESTED NARRATION:</a:t>
            </a:r>
          </a:p>
          <a:p>
            <a:r>
              <a:t>Now let's switch to the live application. Here you see the CareSetu Command Center. Across the top, leadership sees total active encounters, discharges scheduled today, open operational blockers, and active escalations. Below, every inpatient bed is triaged by operational risk. Notice Bed 304 highlighted in orange: High Risk, 75 points. When we toggle to the Discharge Pipeline view on the right, patients are organized into clear workflow columns: Scheduled, Milestone Pending, Blocker Active, Escalated, and Discharge Ready. Async Business Rules keep this entire view updated without manual data entry.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4:40 – 5:20 (40 sec)</a:t>
            </a:r>
          </a:p>
          <a:p/>
          <a:p>
            <a:r>
              <a:t>LIVE APPLICATION SCREEN: Live Encounter 360 Page (view=encounter-detail)</a:t>
            </a:r>
          </a:p>
          <a:p>
            <a:r>
              <a:t>WHAT TO POINT AT: Point to the Predicted Discharge Clock, the active TPA Blocker badge, and the Handoff SLA timer.</a:t>
            </a:r>
          </a:p>
          <a:p/>
          <a:p>
            <a:r>
              <a:t>SUGGESTED NARRATION:</a:t>
            </a:r>
          </a:p>
          <a:p>
            <a:r>
              <a:t>Drilling into Bed 304 opens Encounter 360. Here, the clinical coordinator sees everything affecting this patient's departure. At the top: promised discharge deadline versus our projected delay clock. Below: four dedicated operational panels. The Blockers tab reveals the exact bottleneck — TPA Pre-Auth unresponded for 45 minutes. The Milestones tab shows cardiology clearance is signed, but equipment dispatch is waiting. And the Handoffs tab displays the shift transition note with a ticking 30-minute acknowledgment SLA timer. No phone calls needed; everything is visible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5:20 – 6:00 (40 sec)</a:t>
            </a:r>
          </a:p>
          <a:p/>
          <a:p>
            <a:r>
              <a:t>LIVE APPLICATION SCREEN: AI Care Coordinator Panel (AIPanel opened in Command Center)</a:t>
            </a:r>
          </a:p>
          <a:p>
            <a:r>
              <a:t>WHAT TO POINT AT: Point to the user query and the grounded, structured briefing response highlighting Star Health TPA.</a:t>
            </a:r>
          </a:p>
          <a:p/>
          <a:p>
            <a:r>
              <a:t>SUGGESTED NARRATION:</a:t>
            </a:r>
          </a:p>
          <a:p>
            <a:r>
              <a:t>When staff need an immediate briefing, they open the AI Care Coordinator. Here, a charge nurse asks: 'What is holding up Bed 304?' In milliseconds, the AI analyzes live records across all four scoped tables and answers: 'Bed 304 is delayed by 45 minutes due to an unapproved TPA pre-authorization case with Star Health, alongside a pending shift handoff.' Crucially, this AI is strictly grounded in ServiceNow database state. It cannot hallucinate clinical facts, and it never provides medical advice. It is a tireless, explainable operational assistant.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6:00 – 6:45 (45 sec)</a:t>
            </a:r>
          </a:p>
          <a:p/>
          <a:p>
            <a:r>
              <a:t>LIVE APPLICATION SCREEN: AI Care Coordinator Action Card &amp; Fix It For Me Sequence Diagram</a:t>
            </a:r>
          </a:p>
          <a:p>
            <a:r>
              <a:t>WHAT TO POINT AT: Point to the 'Approve &amp; Execute' button on the left, then trace the sequence steps on the right.</a:t>
            </a:r>
          </a:p>
          <a:p/>
          <a:p>
            <a:r>
              <a:t>SUGGESTED NARRATION:</a:t>
            </a:r>
          </a:p>
          <a:p>
            <a:r>
              <a:t>Now comes CareSetu's hallmark capability: 'Fix It For Me'. Notice on the left screen: the AI doesn't just describe the problem; it formulates a specific, pre-approved action card: 'Chase TPA Pre-Authorization &amp; Escalate Blocker'. It explains the rationale and the delay impact. While in 'proposed' state, the database remains completely untouched. Only when an authorized coordinator clicks 'Approve &amp; Execute' does the server-side pipeline engage. As shown in the sequence diagram on the right: our Scripted REST API verifies the user's role, re-validates that the blocker hasn't already been resolved, locks idempotency, executes the allowlisted handler, and logs an immutable audit trail. If the nurse clicks 'Reject', the action is archived and target tables remain 100% untouched.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6:45 – 7:25 (40 sec)</a:t>
            </a:r>
          </a:p>
          <a:p/>
          <a:p>
            <a:r>
              <a:t>LIVE APPLICATION SCREEN: Lifecycle &amp; Boundaries Slide</a:t>
            </a:r>
          </a:p>
          <a:p>
            <a:r>
              <a:t>WHAT TO POINT AT: Point to the green Working Engines panel, then highlight the honest boundaries on the right.</a:t>
            </a:r>
          </a:p>
          <a:p/>
          <a:p>
            <a:r>
              <a:t>SUGGESTED NARRATION:</a:t>
            </a:r>
          </a:p>
          <a:p>
            <a:r>
              <a:t>As enterprise platform engineers, we believe in radical transparency. Everything on the left is fully implemented, verified, and running in ServiceNow right now: our 15-minute TPA Auto-Chaser, 30-minute Handoff SLA engine, async risk rescoring, and escalation synchronizer. On the right, we explicitly declare what is NOT configured: we do not claim live connections to external insurance company APIs — our chaser tracks internal workflow SLAs. We do not claim hospital-wide telemetry — we use synthetic test encounters. And we maintain a strict non-clinical boundary: CareSetu manages operational logistics, never clinical treatment.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7:25 – 8:00 (35 sec)</a:t>
            </a:r>
          </a:p>
          <a:p/>
          <a:p>
            <a:r>
              <a:t>LIVE APPLICATION SCREEN: Conclusion &amp; Vision Slide</a:t>
            </a:r>
          </a:p>
          <a:p>
            <a:r>
              <a:t>WHAT TO POINT AT: Conclude presentation with warmth and confidence; invite judge questions.</a:t>
            </a:r>
          </a:p>
          <a:p/>
          <a:p>
            <a:r>
              <a:t>SUGGESTED NARRATION:</a:t>
            </a:r>
          </a:p>
          <a:p>
            <a:r>
              <a:t>In conclusion: CareSetu AI transforms inpatient discharge from a chaotic, fragmented waiting game into a deterministic, auditable, and collaborative operational workflow. By pairing explainable urgency calculations with grounded AI briefings and human-approved action, we restore thousands of bed-hours to healthcare systems. Most importantly, we ensure that when patients like Nanaji are healed, they get to go home to their families the hour they are cleared — not eight hours later.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1097280"/>
            <a:ext cx="10698480" cy="2011680"/>
          </a:xfrm>
          <a:prstGeom prst="rect">
            <a:avLst/>
          </a:prstGeom>
          <a:noFill/>
        </p:spPr>
        <p:txBody>
          <a:bodyPr wrap="square">
            <a:spAutoFit/>
          </a:bodyPr>
          <a:lstStyle/>
          <a:p>
            <a:pPr>
              <a:defRPr sz="4400" b="1">
                <a:solidFill>
                  <a:srgbClr val="FFFFFF"/>
                </a:solidFill>
                <a:latin typeface="Segoe UI"/>
              </a:defRPr>
            </a:pPr>
            <a:r>
              <a:t>CARESETU AI</a:t>
            </a:r>
          </a:p>
          <a:p>
            <a:pPr>
              <a:spcBef>
                <a:spcPts val="800"/>
              </a:spcBef>
              <a:defRPr sz="2200" b="1">
                <a:solidFill>
                  <a:srgbClr val="14B8A6"/>
                </a:solidFill>
                <a:latin typeface="Segoe UI"/>
              </a:defRPr>
            </a:pPr>
            <a:r>
              <a:t>Autonomous Inpatient Discharge Orchestration on ServiceNow</a:t>
            </a:r>
          </a:p>
          <a:p>
            <a:pPr>
              <a:spcBef>
                <a:spcPts val="1200"/>
              </a:spcBef>
              <a:defRPr sz="1400">
                <a:solidFill>
                  <a:srgbClr val="E2E8F0"/>
                </a:solidFill>
                <a:latin typeface="Segoe UI"/>
              </a:defRPr>
            </a:pPr>
            <a:r>
              <a:t>Connecting fragmented department silos to eliminate discharge delays with grounded AI, deterministic urgency, and human-approved action.</a:t>
            </a:r>
          </a:p>
        </p:txBody>
      </p:sp>
      <p:sp>
        <p:nvSpPr>
          <p:cNvPr id="3" name="Rounded Rectangle 2"/>
          <p:cNvSpPr/>
          <p:nvPr/>
        </p:nvSpPr>
        <p:spPr>
          <a:xfrm>
            <a:off x="731520" y="3474720"/>
            <a:ext cx="3291840" cy="219456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657600"/>
            <a:ext cx="2926080" cy="1828800"/>
          </a:xfrm>
          <a:prstGeom prst="rect">
            <a:avLst/>
          </a:prstGeom>
          <a:noFill/>
        </p:spPr>
        <p:txBody>
          <a:bodyPr wrap="square" lIns="0" tIns="0" rIns="0" bIns="0">
            <a:spAutoFit/>
          </a:bodyPr>
          <a:lstStyle/>
          <a:p>
            <a:pPr>
              <a:spcAft>
                <a:spcPts val="800"/>
              </a:spcAft>
              <a:defRPr sz="1400" b="1">
                <a:solidFill>
                  <a:srgbClr val="14B8A6"/>
                </a:solidFill>
                <a:latin typeface="Segoe UI"/>
              </a:defRPr>
            </a:pPr>
            <a:r>
              <a:t>Zero-Mutation AI Boundary</a:t>
            </a:r>
          </a:p>
          <a:p>
            <a:pPr>
              <a:spcAft>
                <a:spcPts val="400"/>
              </a:spcAft>
              <a:defRPr sz="1100">
                <a:solidFill>
                  <a:srgbClr val="E2E8F0"/>
                </a:solidFill>
                <a:latin typeface="Segoe UI"/>
              </a:defRPr>
            </a:pPr>
            <a:r>
              <a:t>• AI never mutates databases autonomously</a:t>
            </a:r>
          </a:p>
          <a:p>
            <a:pPr>
              <a:spcAft>
                <a:spcPts val="400"/>
              </a:spcAft>
              <a:defRPr sz="1100">
                <a:solidFill>
                  <a:srgbClr val="E2E8F0"/>
                </a:solidFill>
                <a:latin typeface="Segoe UI"/>
              </a:defRPr>
            </a:pPr>
            <a:r>
              <a:t>• Pre-approved proposals require authorized staff sign-off</a:t>
            </a:r>
          </a:p>
          <a:p>
            <a:pPr>
              <a:spcAft>
                <a:spcPts val="400"/>
              </a:spcAft>
              <a:defRPr sz="1100">
                <a:solidFill>
                  <a:srgbClr val="E2E8F0"/>
                </a:solidFill>
                <a:latin typeface="Segoe UI"/>
              </a:defRPr>
            </a:pPr>
            <a:r>
              <a:t>• Server-side state revalidation &amp; idempotency guards</a:t>
            </a:r>
          </a:p>
          <a:p>
            <a:pPr>
              <a:spcAft>
                <a:spcPts val="400"/>
              </a:spcAft>
              <a:defRPr sz="1100">
                <a:solidFill>
                  <a:srgbClr val="E2E8F0"/>
                </a:solidFill>
                <a:latin typeface="Segoe UI"/>
              </a:defRPr>
            </a:pPr>
            <a:r>
              <a:t>• Strict non-clinical operational boundary</a:t>
            </a:r>
          </a:p>
        </p:txBody>
      </p:sp>
      <p:sp>
        <p:nvSpPr>
          <p:cNvPr id="5" name="Rounded Rectangle 4"/>
          <p:cNvSpPr/>
          <p:nvPr/>
        </p:nvSpPr>
        <p:spPr>
          <a:xfrm>
            <a:off x="4389120" y="3474720"/>
            <a:ext cx="3291840" cy="2194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3657600"/>
            <a:ext cx="2926080" cy="1828800"/>
          </a:xfrm>
          <a:prstGeom prst="rect">
            <a:avLst/>
          </a:prstGeom>
          <a:noFill/>
        </p:spPr>
        <p:txBody>
          <a:bodyPr wrap="square" lIns="0" tIns="0" rIns="0" bIns="0">
            <a:spAutoFit/>
          </a:bodyPr>
          <a:lstStyle/>
          <a:p>
            <a:pPr>
              <a:spcAft>
                <a:spcPts val="800"/>
              </a:spcAft>
              <a:defRPr sz="1400" b="1">
                <a:solidFill>
                  <a:srgbClr val="38BDF8"/>
                </a:solidFill>
                <a:latin typeface="Segoe UI"/>
              </a:defRPr>
            </a:pPr>
            <a:r>
              <a:t>Deterministic Urgency</a:t>
            </a:r>
          </a:p>
          <a:p>
            <a:pPr>
              <a:spcAft>
                <a:spcPts val="400"/>
              </a:spcAft>
              <a:defRPr sz="1100">
                <a:solidFill>
                  <a:srgbClr val="E2E8F0"/>
                </a:solidFill>
                <a:latin typeface="Segoe UI"/>
              </a:defRPr>
            </a:pPr>
            <a:r>
              <a:t>• Transparent 0–100 integer operational risk score</a:t>
            </a:r>
          </a:p>
          <a:p>
            <a:pPr>
              <a:spcAft>
                <a:spcPts val="400"/>
              </a:spcAft>
              <a:defRPr sz="1100">
                <a:solidFill>
                  <a:srgbClr val="E2E8F0"/>
                </a:solidFill>
                <a:latin typeface="Segoe UI"/>
              </a:defRPr>
            </a:pPr>
            <a:r>
              <a:t>• Linear additive delay clock with category deduplication</a:t>
            </a:r>
          </a:p>
          <a:p>
            <a:pPr>
              <a:spcAft>
                <a:spcPts val="400"/>
              </a:spcAft>
              <a:defRPr sz="1100">
                <a:solidFill>
                  <a:srgbClr val="E2E8F0"/>
                </a:solidFill>
                <a:latin typeface="Segoe UI"/>
              </a:defRPr>
            </a:pPr>
            <a:r>
              <a:t>• Separates urgency priority from timeline projection</a:t>
            </a:r>
          </a:p>
          <a:p>
            <a:pPr>
              <a:spcAft>
                <a:spcPts val="400"/>
              </a:spcAft>
              <a:defRPr sz="1100">
                <a:solidFill>
                  <a:srgbClr val="E2E8F0"/>
                </a:solidFill>
                <a:latin typeface="Segoe UI"/>
              </a:defRPr>
            </a:pPr>
            <a:r>
              <a:t>• 100% explainable &amp; audit-ready logic</a:t>
            </a:r>
          </a:p>
        </p:txBody>
      </p:sp>
      <p:sp>
        <p:nvSpPr>
          <p:cNvPr id="7" name="Rounded Rectangle 6"/>
          <p:cNvSpPr/>
          <p:nvPr/>
        </p:nvSpPr>
        <p:spPr>
          <a:xfrm>
            <a:off x="8046720" y="3474720"/>
            <a:ext cx="3413455" cy="2194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3657600"/>
            <a:ext cx="3047695" cy="1828800"/>
          </a:xfrm>
          <a:prstGeom prst="rect">
            <a:avLst/>
          </a:prstGeom>
          <a:noFill/>
        </p:spPr>
        <p:txBody>
          <a:bodyPr wrap="square" lIns="0" tIns="0" rIns="0" bIns="0">
            <a:spAutoFit/>
          </a:bodyPr>
          <a:lstStyle/>
          <a:p>
            <a:pPr>
              <a:spcAft>
                <a:spcPts val="800"/>
              </a:spcAft>
              <a:defRPr sz="1400" b="1">
                <a:solidFill>
                  <a:srgbClr val="F59E0B"/>
                </a:solidFill>
                <a:latin typeface="Segoe UI"/>
              </a:defRPr>
            </a:pPr>
            <a:r>
              <a:t>Native ServiceNow Architecture</a:t>
            </a:r>
          </a:p>
          <a:p>
            <a:pPr>
              <a:spcAft>
                <a:spcPts val="400"/>
              </a:spcAft>
              <a:defRPr sz="1100">
                <a:solidFill>
                  <a:srgbClr val="E2E8F0"/>
                </a:solidFill>
                <a:latin typeface="Segoe UI"/>
              </a:defRPr>
            </a:pPr>
            <a:r>
              <a:t>• Scoped application: x_caresetu_ai</a:t>
            </a:r>
          </a:p>
          <a:p>
            <a:pPr>
              <a:spcAft>
                <a:spcPts val="400"/>
              </a:spcAft>
              <a:defRPr sz="1100">
                <a:solidFill>
                  <a:srgbClr val="E2E8F0"/>
                </a:solidFill>
                <a:latin typeface="Segoe UI"/>
              </a:defRPr>
            </a:pPr>
            <a:r>
              <a:t>• React 18 SPA embedded in UI Page</a:t>
            </a:r>
          </a:p>
          <a:p>
            <a:pPr>
              <a:spcAft>
                <a:spcPts val="400"/>
              </a:spcAft>
              <a:defRPr sz="1100">
                <a:solidFill>
                  <a:srgbClr val="E2E8F0"/>
                </a:solidFill>
                <a:latin typeface="Segoe UI"/>
              </a:defRPr>
            </a:pPr>
            <a:r>
              <a:t>• Scoped REST APIs, ACLs, and RBAC security</a:t>
            </a:r>
          </a:p>
          <a:p>
            <a:pPr>
              <a:spcAft>
                <a:spcPts val="400"/>
              </a:spcAft>
              <a:defRPr sz="1100">
                <a:solidFill>
                  <a:srgbClr val="E2E8F0"/>
                </a:solidFill>
                <a:latin typeface="Segoe UI"/>
              </a:defRPr>
            </a:pPr>
            <a:r>
              <a:t>• Scheduled chasers for TPA &amp; shift handoff SLAs</a:t>
            </a:r>
          </a:p>
        </p:txBody>
      </p:sp>
      <p:sp>
        <p:nvSpPr>
          <p:cNvPr id="9" name="Rounded Rectangle 8"/>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PROJECT METADATA: </a:t>
            </a:r>
            <a:r>
              <a:rPr sz="1100">
                <a:solidFill>
                  <a:srgbClr val="E2E8F0"/>
                </a:solidFill>
                <a:latin typeface="Segoe UI"/>
              </a:rPr>
              <a:t>ServiceNow Hackathon 2026 | Application Scope: x_caresetu_ai | Instance: act-hck-4161-0029.lab.service-now.com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14B8A6"/>
                </a:solidFill>
                <a:latin typeface="Segoe UI"/>
              </a:defRPr>
            </a:pPr>
            <a:r>
              <a:t>THE HUMAN REALITY OF DISCHARGE DELAYS</a:t>
            </a:r>
          </a:p>
        </p:txBody>
      </p:sp>
      <p:sp>
        <p:nvSpPr>
          <p:cNvPr id="3" name="TextBox 2"/>
          <p:cNvSpPr txBox="1"/>
          <p:nvPr/>
        </p:nvSpPr>
        <p:spPr>
          <a:xfrm>
            <a:off x="731520" y="685800"/>
            <a:ext cx="10698480" cy="502920"/>
          </a:xfrm>
          <a:prstGeom prst="rect">
            <a:avLst/>
          </a:prstGeom>
          <a:noFill/>
        </p:spPr>
        <p:txBody>
          <a:bodyPr wrap="square" lIns="0" tIns="0" rIns="0" bIns="0">
            <a:spAutoFit/>
          </a:bodyPr>
          <a:lstStyle/>
          <a:p>
            <a:pPr>
              <a:defRPr sz="2400" b="1">
                <a:solidFill>
                  <a:srgbClr val="FFFFFF"/>
                </a:solidFill>
                <a:latin typeface="Segoe UI"/>
              </a:defRPr>
            </a:pPr>
            <a:r>
              <a:t>Eight Hours in a Post-Operative Hallway</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Segoe UI"/>
              </a:defRPr>
            </a:pPr>
            <a:r>
              <a:t>The problem in hospitals today isn't clinical care. It is broken operational coordination.</a:t>
            </a:r>
          </a:p>
        </p:txBody>
      </p:sp>
      <p:sp>
        <p:nvSpPr>
          <p:cNvPr id="5" name="Rounded Rectangle 4"/>
          <p:cNvSpPr/>
          <p:nvPr/>
        </p:nvSpPr>
        <p:spPr>
          <a:xfrm>
            <a:off x="731520" y="1828800"/>
            <a:ext cx="512064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754880" cy="3566160"/>
          </a:xfrm>
          <a:prstGeom prst="rect">
            <a:avLst/>
          </a:prstGeom>
          <a:noFill/>
        </p:spPr>
        <p:txBody>
          <a:bodyPr wrap="square" lIns="0" tIns="0" rIns="0" bIns="0">
            <a:spAutoFit/>
          </a:bodyPr>
          <a:lstStyle/>
          <a:p>
            <a:pPr>
              <a:spcAft>
                <a:spcPts val="800"/>
              </a:spcAft>
              <a:defRPr sz="1400" b="1">
                <a:solidFill>
                  <a:srgbClr val="38BDF8"/>
                </a:solidFill>
                <a:latin typeface="Segoe UI"/>
              </a:defRPr>
            </a:pPr>
            <a:r>
              <a:t>The Personal Genesis</a:t>
            </a:r>
          </a:p>
          <a:p>
            <a:pPr>
              <a:spcAft>
                <a:spcPts val="400"/>
              </a:spcAft>
              <a:defRPr sz="1100">
                <a:solidFill>
                  <a:srgbClr val="E2E8F0"/>
                </a:solidFill>
                <a:latin typeface="Segoe UI"/>
              </a:defRPr>
            </a:pPr>
            <a:r>
              <a:t>• My grandfather (Nanaji) recently underwent open-heart surgery.</a:t>
            </a:r>
          </a:p>
          <a:p>
            <a:pPr>
              <a:spcAft>
                <a:spcPts val="400"/>
              </a:spcAft>
              <a:defRPr sz="1100">
                <a:solidFill>
                  <a:srgbClr val="E2E8F0"/>
                </a:solidFill>
                <a:latin typeface="Segoe UI"/>
              </a:defRPr>
            </a:pPr>
            <a:r>
              <a:t>• At 10:00 AM, his surgeon completed rounds and declared him medically ready for discharge.</a:t>
            </a:r>
          </a:p>
          <a:p>
            <a:pPr>
              <a:spcAft>
                <a:spcPts val="400"/>
              </a:spcAft>
              <a:defRPr sz="1100">
                <a:solidFill>
                  <a:srgbClr val="E2E8F0"/>
                </a:solidFill>
                <a:latin typeface="Segoe UI"/>
              </a:defRPr>
            </a:pPr>
            <a:r>
              <a:t>• His vitals were stable, his surgical wound was healing, and he was eager to return home to his family.</a:t>
            </a:r>
          </a:p>
          <a:p>
            <a:pPr>
              <a:spcAft>
                <a:spcPts val="400"/>
              </a:spcAft>
              <a:defRPr sz="1100">
                <a:solidFill>
                  <a:srgbClr val="E2E8F0"/>
                </a:solidFill>
                <a:latin typeface="Segoe UI"/>
              </a:defRPr>
            </a:pPr>
            <a:r>
              <a:t>• Yet, he sat in a recovery chair in a drafty hallway until 6:00 PM — eight hours after clinical clearance.</a:t>
            </a:r>
          </a:p>
          <a:p>
            <a:pPr>
              <a:spcAft>
                <a:spcPts val="400"/>
              </a:spcAft>
              <a:defRPr sz="1100">
                <a:solidFill>
                  <a:srgbClr val="E2E8F0"/>
                </a:solidFill>
                <a:latin typeface="Segoe UI"/>
              </a:defRPr>
            </a:pPr>
            <a:r>
              <a:t>• He wasn't waiting on medical care. He was waiting on paperwork, transport, and insurance phone calls.</a:t>
            </a:r>
          </a:p>
          <a:p>
            <a:pPr>
              <a:spcAft>
                <a:spcPts val="400"/>
              </a:spcAft>
              <a:defRPr sz="1100">
                <a:solidFill>
                  <a:srgbClr val="E2E8F0"/>
                </a:solidFill>
                <a:latin typeface="Segoe UI"/>
              </a:defRPr>
            </a:pPr>
            <a:r>
              <a:t>• Every nurse was exhausted, every family member was anxious, and nobody had end-to-end visibility.</a:t>
            </a:r>
          </a:p>
        </p:txBody>
      </p:sp>
      <p:sp>
        <p:nvSpPr>
          <p:cNvPr id="7" name="Rounded Rectangle 6"/>
          <p:cNvSpPr/>
          <p:nvPr/>
        </p:nvSpPr>
        <p:spPr>
          <a:xfrm>
            <a:off x="6217920" y="1828800"/>
            <a:ext cx="5242255" cy="3931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011680"/>
            <a:ext cx="4876495" cy="3566160"/>
          </a:xfrm>
          <a:prstGeom prst="rect">
            <a:avLst/>
          </a:prstGeom>
          <a:noFill/>
        </p:spPr>
        <p:txBody>
          <a:bodyPr wrap="square" lIns="0" tIns="0" rIns="0" bIns="0">
            <a:spAutoFit/>
          </a:bodyPr>
          <a:lstStyle/>
          <a:p>
            <a:pPr>
              <a:spcAft>
                <a:spcPts val="800"/>
              </a:spcAft>
              <a:defRPr sz="1400" b="1">
                <a:solidFill>
                  <a:srgbClr val="F59E0B"/>
                </a:solidFill>
                <a:latin typeface="Segoe UI"/>
              </a:defRPr>
            </a:pPr>
            <a:r>
              <a:t>The Silent Hospital Cascades</a:t>
            </a:r>
          </a:p>
          <a:p>
            <a:pPr>
              <a:spcAft>
                <a:spcPts val="400"/>
              </a:spcAft>
              <a:defRPr sz="1100">
                <a:solidFill>
                  <a:srgbClr val="E2E8F0"/>
                </a:solidFill>
                <a:latin typeface="Segoe UI"/>
              </a:defRPr>
            </a:pPr>
            <a:r>
              <a:t>• TPA Insurance clearance sat unworked in a shared email inbox.</a:t>
            </a:r>
          </a:p>
          <a:p>
            <a:pPr>
              <a:spcAft>
                <a:spcPts val="400"/>
              </a:spcAft>
              <a:defRPr sz="1100">
                <a:solidFill>
                  <a:srgbClr val="E2E8F0"/>
                </a:solidFill>
                <a:latin typeface="Segoe UI"/>
              </a:defRPr>
            </a:pPr>
            <a:r>
              <a:t>• Cardiology physical discharge summary was waiting on a shift change.</a:t>
            </a:r>
          </a:p>
          <a:p>
            <a:pPr>
              <a:spcAft>
                <a:spcPts val="400"/>
              </a:spcAft>
              <a:defRPr sz="1100">
                <a:solidFill>
                  <a:srgbClr val="E2E8F0"/>
                </a:solidFill>
                <a:latin typeface="Segoe UI"/>
              </a:defRPr>
            </a:pPr>
            <a:r>
              <a:t>• Post-acute durable medical equipment delivery was never dispatched.</a:t>
            </a:r>
          </a:p>
          <a:p>
            <a:pPr>
              <a:spcAft>
                <a:spcPts val="400"/>
              </a:spcAft>
              <a:defRPr sz="1100">
                <a:solidFill>
                  <a:srgbClr val="E2E8F0"/>
                </a:solidFill>
                <a:latin typeface="Segoe UI"/>
              </a:defRPr>
            </a:pPr>
            <a:r>
              <a:t>• Downstairs in the Emergency Department, critical cardiac patients were held on gurneys because Nanaji's bed was registered as 'occupied'.</a:t>
            </a:r>
          </a:p>
          <a:p>
            <a:pPr>
              <a:spcAft>
                <a:spcPts val="400"/>
              </a:spcAft>
              <a:defRPr sz="1100">
                <a:solidFill>
                  <a:srgbClr val="E2E8F0"/>
                </a:solidFill>
                <a:latin typeface="Segoe UI"/>
              </a:defRPr>
            </a:pPr>
            <a:r>
              <a:t>• This delay did not stem from a lack of dedication by medical staff.</a:t>
            </a:r>
          </a:p>
          <a:p>
            <a:pPr>
              <a:spcAft>
                <a:spcPts val="400"/>
              </a:spcAft>
              <a:defRPr sz="1100">
                <a:solidFill>
                  <a:srgbClr val="E2E8F0"/>
                </a:solidFill>
                <a:latin typeface="Segoe UI"/>
              </a:defRPr>
            </a:pPr>
            <a:r>
              <a:t>• It stemmed from disconnected systems, unowned operational blockers, and absence of proactive follow-up.</a:t>
            </a:r>
          </a:p>
        </p:txBody>
      </p:sp>
      <p:sp>
        <p:nvSpPr>
          <p:cNvPr id="9" name="Rounded Rectangle 8"/>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THE CORE LESSON: </a:t>
            </a:r>
            <a:r>
              <a:rPr sz="1100">
                <a:solidFill>
                  <a:srgbClr val="E2E8F0"/>
                </a:solidFill>
                <a:latin typeface="Segoe UI"/>
              </a:rPr>
              <a:t>Hospitals don't lack heroic clinicians. They lack closed-loop operational coordination across department silos.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14B8A6"/>
                </a:solidFill>
                <a:latin typeface="Segoe UI"/>
              </a:defRPr>
            </a:pPr>
            <a:r>
              <a:t>THE SYSTEMIC PROBLEM</a:t>
            </a:r>
          </a:p>
        </p:txBody>
      </p:sp>
      <p:sp>
        <p:nvSpPr>
          <p:cNvPr id="3" name="TextBox 2"/>
          <p:cNvSpPr txBox="1"/>
          <p:nvPr/>
        </p:nvSpPr>
        <p:spPr>
          <a:xfrm>
            <a:off x="731520" y="685800"/>
            <a:ext cx="10698480" cy="502920"/>
          </a:xfrm>
          <a:prstGeom prst="rect">
            <a:avLst/>
          </a:prstGeom>
          <a:noFill/>
        </p:spPr>
        <p:txBody>
          <a:bodyPr wrap="square" lIns="0" tIns="0" rIns="0" bIns="0">
            <a:spAutoFit/>
          </a:bodyPr>
          <a:lstStyle/>
          <a:p>
            <a:pPr>
              <a:defRPr sz="2400" b="1">
                <a:solidFill>
                  <a:srgbClr val="FFFFFF"/>
                </a:solidFill>
                <a:latin typeface="Segoe UI"/>
              </a:defRPr>
            </a:pPr>
            <a:r>
              <a:t>Why Discharge Delays Paralyze Modern Hospitals</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Segoe UI"/>
              </a:defRPr>
            </a:pPr>
            <a:r>
              <a:t>Department silos, invisible bottlenecks, and absence of accountability create hospital gridlock.</a:t>
            </a:r>
          </a:p>
        </p:txBody>
      </p:sp>
      <p:sp>
        <p:nvSpPr>
          <p:cNvPr id="5" name="Rounded Rectangle 4"/>
          <p:cNvSpPr/>
          <p:nvPr/>
        </p:nvSpPr>
        <p:spPr>
          <a:xfrm>
            <a:off x="731520" y="1828800"/>
            <a:ext cx="3291840" cy="39319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3566160"/>
          </a:xfrm>
          <a:prstGeom prst="rect">
            <a:avLst/>
          </a:prstGeom>
          <a:noFill/>
        </p:spPr>
        <p:txBody>
          <a:bodyPr wrap="square" lIns="0" tIns="0" rIns="0" bIns="0">
            <a:spAutoFit/>
          </a:bodyPr>
          <a:lstStyle/>
          <a:p>
            <a:pPr>
              <a:spcAft>
                <a:spcPts val="800"/>
              </a:spcAft>
              <a:defRPr sz="1400" b="1">
                <a:solidFill>
                  <a:srgbClr val="EF4444"/>
                </a:solidFill>
                <a:latin typeface="Segoe UI"/>
              </a:defRPr>
            </a:pPr>
            <a:r>
              <a:t>1. Fragmented Silos</a:t>
            </a:r>
          </a:p>
          <a:p>
            <a:pPr>
              <a:spcAft>
                <a:spcPts val="400"/>
              </a:spcAft>
              <a:defRPr sz="1100">
                <a:solidFill>
                  <a:srgbClr val="E2E8F0"/>
                </a:solidFill>
                <a:latin typeface="Segoe UI"/>
              </a:defRPr>
            </a:pPr>
            <a:r>
              <a:t>• Nursing, Pharmacy, Transport, Billing, and Insurers operate in disconnected tools.</a:t>
            </a:r>
          </a:p>
          <a:p>
            <a:pPr>
              <a:spcAft>
                <a:spcPts val="400"/>
              </a:spcAft>
              <a:defRPr sz="1100">
                <a:solidFill>
                  <a:srgbClr val="E2E8F0"/>
                </a:solidFill>
                <a:latin typeface="Segoe UI"/>
              </a:defRPr>
            </a:pPr>
            <a:r>
              <a:t>• No single person or dashboard sees the cross-department dependency chain.</a:t>
            </a:r>
          </a:p>
          <a:p>
            <a:pPr>
              <a:spcAft>
                <a:spcPts val="400"/>
              </a:spcAft>
              <a:defRPr sz="1100">
                <a:solidFill>
                  <a:srgbClr val="E2E8F0"/>
                </a:solidFill>
                <a:latin typeface="Segoe UI"/>
              </a:defRPr>
            </a:pPr>
            <a:r>
              <a:t>• Communication relies on ad-hoc phone calls and hallway sticky notes.</a:t>
            </a:r>
          </a:p>
          <a:p>
            <a:pPr>
              <a:spcAft>
                <a:spcPts val="400"/>
              </a:spcAft>
              <a:defRPr sz="1100">
                <a:solidFill>
                  <a:srgbClr val="E2E8F0"/>
                </a:solidFill>
                <a:latin typeface="Segoe UI"/>
              </a:defRPr>
            </a:pPr>
            <a:r>
              <a:t>• Status updates occur only when an angry family member inquires.</a:t>
            </a:r>
          </a:p>
        </p:txBody>
      </p:sp>
      <p:sp>
        <p:nvSpPr>
          <p:cNvPr id="7" name="Rounded Rectangle 6"/>
          <p:cNvSpPr/>
          <p:nvPr/>
        </p:nvSpPr>
        <p:spPr>
          <a:xfrm>
            <a:off x="4389120" y="1828800"/>
            <a:ext cx="3291840" cy="3931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011680"/>
            <a:ext cx="2926080" cy="3566160"/>
          </a:xfrm>
          <a:prstGeom prst="rect">
            <a:avLst/>
          </a:prstGeom>
          <a:noFill/>
        </p:spPr>
        <p:txBody>
          <a:bodyPr wrap="square" lIns="0" tIns="0" rIns="0" bIns="0">
            <a:spAutoFit/>
          </a:bodyPr>
          <a:lstStyle/>
          <a:p>
            <a:pPr>
              <a:spcAft>
                <a:spcPts val="800"/>
              </a:spcAft>
              <a:defRPr sz="1400" b="1">
                <a:solidFill>
                  <a:srgbClr val="F59E0B"/>
                </a:solidFill>
                <a:latin typeface="Segoe UI"/>
              </a:defRPr>
            </a:pPr>
            <a:r>
              <a:t>2. Invisible Blockers</a:t>
            </a:r>
          </a:p>
          <a:p>
            <a:pPr>
              <a:spcAft>
                <a:spcPts val="400"/>
              </a:spcAft>
              <a:defRPr sz="1100">
                <a:solidFill>
                  <a:srgbClr val="E2E8F0"/>
                </a:solidFill>
                <a:latin typeface="Segoe UI"/>
              </a:defRPr>
            </a:pPr>
            <a:r>
              <a:t>• Operational deadlines pass silently without automated alerts.</a:t>
            </a:r>
          </a:p>
          <a:p>
            <a:pPr>
              <a:spcAft>
                <a:spcPts val="400"/>
              </a:spcAft>
              <a:defRPr sz="1100">
                <a:solidFill>
                  <a:srgbClr val="E2E8F0"/>
                </a:solidFill>
                <a:latin typeface="Segoe UI"/>
              </a:defRPr>
            </a:pPr>
            <a:r>
              <a:t>• TPA/Insurance queries sit unanswered for hours without follow-up timers.</a:t>
            </a:r>
          </a:p>
          <a:p>
            <a:pPr>
              <a:spcAft>
                <a:spcPts val="400"/>
              </a:spcAft>
              <a:defRPr sz="1100">
                <a:solidFill>
                  <a:srgbClr val="E2E8F0"/>
                </a:solidFill>
                <a:latin typeface="Segoe UI"/>
              </a:defRPr>
            </a:pPr>
            <a:r>
              <a:t>• Shift handoffs go unacknowledged across department transitions.</a:t>
            </a:r>
          </a:p>
          <a:p>
            <a:pPr>
              <a:spcAft>
                <a:spcPts val="400"/>
              </a:spcAft>
              <a:defRPr sz="1100">
                <a:solidFill>
                  <a:srgbClr val="E2E8F0"/>
                </a:solidFill>
                <a:latin typeface="Segoe UI"/>
              </a:defRPr>
            </a:pPr>
            <a:r>
              <a:t>• Delay only surfaces when the patient is already past promised departure.</a:t>
            </a:r>
          </a:p>
        </p:txBody>
      </p:sp>
      <p:sp>
        <p:nvSpPr>
          <p:cNvPr id="9" name="Rounded Rectangle 8"/>
          <p:cNvSpPr/>
          <p:nvPr/>
        </p:nvSpPr>
        <p:spPr>
          <a:xfrm>
            <a:off x="8046720" y="1828800"/>
            <a:ext cx="3413455"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011680"/>
            <a:ext cx="3047695" cy="3566160"/>
          </a:xfrm>
          <a:prstGeom prst="rect">
            <a:avLst/>
          </a:prstGeom>
          <a:noFill/>
        </p:spPr>
        <p:txBody>
          <a:bodyPr wrap="square" lIns="0" tIns="0" rIns="0" bIns="0">
            <a:spAutoFit/>
          </a:bodyPr>
          <a:lstStyle/>
          <a:p>
            <a:pPr>
              <a:spcAft>
                <a:spcPts val="800"/>
              </a:spcAft>
              <a:defRPr sz="1400" b="1">
                <a:solidFill>
                  <a:srgbClr val="38BDF8"/>
                </a:solidFill>
                <a:latin typeface="Segoe UI"/>
              </a:defRPr>
            </a:pPr>
            <a:r>
              <a:t>3. Cascading Gridlock</a:t>
            </a:r>
          </a:p>
          <a:p>
            <a:pPr>
              <a:spcAft>
                <a:spcPts val="400"/>
              </a:spcAft>
              <a:defRPr sz="1100">
                <a:solidFill>
                  <a:srgbClr val="E2E8F0"/>
                </a:solidFill>
                <a:latin typeface="Segoe UI"/>
              </a:defRPr>
            </a:pPr>
            <a:r>
              <a:t>• Discharge delays trigger Emergency Department boarding and hallway admissions.</a:t>
            </a:r>
          </a:p>
          <a:p>
            <a:pPr>
              <a:spcAft>
                <a:spcPts val="400"/>
              </a:spcAft>
              <a:defRPr sz="1100">
                <a:solidFill>
                  <a:srgbClr val="E2E8F0"/>
                </a:solidFill>
                <a:latin typeface="Segoe UI"/>
              </a:defRPr>
            </a:pPr>
            <a:r>
              <a:t>• Surgeons cancel scheduled procedures due to lack of inpatient bed availability.</a:t>
            </a:r>
          </a:p>
          <a:p>
            <a:pPr>
              <a:spcAft>
                <a:spcPts val="400"/>
              </a:spcAft>
              <a:defRPr sz="1100">
                <a:solidFill>
                  <a:srgbClr val="E2E8F0"/>
                </a:solidFill>
                <a:latin typeface="Segoe UI"/>
              </a:defRPr>
            </a:pPr>
            <a:r>
              <a:t>• Severe staff fatigue and nurse burnout from manual chasing.</a:t>
            </a:r>
          </a:p>
          <a:p>
            <a:pPr>
              <a:spcAft>
                <a:spcPts val="400"/>
              </a:spcAft>
              <a:defRPr sz="1100">
                <a:solidFill>
                  <a:srgbClr val="E2E8F0"/>
                </a:solidFill>
                <a:latin typeface="Segoe UI"/>
              </a:defRPr>
            </a:pPr>
            <a:r>
              <a:t>• In a 400-bed hospital, a 3-hour delay wastes ~1,200 bed-hours every single day.</a:t>
            </a:r>
          </a:p>
        </p:txBody>
      </p:sp>
      <p:sp>
        <p:nvSpPr>
          <p:cNvPr id="11" name="Rounded Rectangle 10"/>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KEY INSIGHT: </a:t>
            </a:r>
            <a:r>
              <a:rPr sz="1100">
                <a:solidFill>
                  <a:srgbClr val="E2E8F0"/>
                </a:solidFill>
                <a:latin typeface="Segoe UI"/>
              </a:rPr>
              <a:t>Discharge coordination is not a clinical diagnosis problem — it is an enterprise workflow and service orchestration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14B8A6"/>
                </a:solidFill>
                <a:latin typeface="Segoe UI"/>
              </a:defRPr>
            </a:pPr>
            <a:r>
              <a:t>THE CARESETU PARADIGM</a:t>
            </a:r>
          </a:p>
        </p:txBody>
      </p:sp>
      <p:sp>
        <p:nvSpPr>
          <p:cNvPr id="3" name="TextBox 2"/>
          <p:cNvSpPr txBox="1"/>
          <p:nvPr/>
        </p:nvSpPr>
        <p:spPr>
          <a:xfrm>
            <a:off x="731520" y="685800"/>
            <a:ext cx="10698480" cy="502920"/>
          </a:xfrm>
          <a:prstGeom prst="rect">
            <a:avLst/>
          </a:prstGeom>
          <a:noFill/>
        </p:spPr>
        <p:txBody>
          <a:bodyPr wrap="square" lIns="0" tIns="0" rIns="0" bIns="0">
            <a:spAutoFit/>
          </a:bodyPr>
          <a:lstStyle/>
          <a:p>
            <a:pPr>
              <a:defRPr sz="2400" b="1">
                <a:solidFill>
                  <a:srgbClr val="FFFFFF"/>
                </a:solidFill>
                <a:latin typeface="Segoe UI"/>
              </a:defRPr>
            </a:pPr>
            <a:r>
              <a:t>Closed-Loop Operational Orchestration on ServiceNow</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Segoe UI"/>
              </a:defRPr>
            </a:pPr>
            <a:r>
              <a:t>Four grounded architectural principles transforming hospital workflow.</a:t>
            </a:r>
          </a:p>
        </p:txBody>
      </p:sp>
      <p:sp>
        <p:nvSpPr>
          <p:cNvPr id="5" name="Rounded Rectangle 4"/>
          <p:cNvSpPr/>
          <p:nvPr/>
        </p:nvSpPr>
        <p:spPr>
          <a:xfrm>
            <a:off x="731520" y="1828800"/>
            <a:ext cx="5120640" cy="182880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754880" cy="1463040"/>
          </a:xfrm>
          <a:prstGeom prst="rect">
            <a:avLst/>
          </a:prstGeom>
          <a:noFill/>
        </p:spPr>
        <p:txBody>
          <a:bodyPr wrap="square" lIns="0" tIns="0" rIns="0" bIns="0">
            <a:spAutoFit/>
          </a:bodyPr>
          <a:lstStyle/>
          <a:p>
            <a:pPr>
              <a:spcAft>
                <a:spcPts val="800"/>
              </a:spcAft>
              <a:defRPr sz="1400" b="1">
                <a:solidFill>
                  <a:srgbClr val="14B8A6"/>
                </a:solidFill>
                <a:latin typeface="Segoe UI"/>
              </a:defRPr>
            </a:pPr>
            <a:r>
              <a:t>1. Explainable Deterministic Urgency</a:t>
            </a:r>
          </a:p>
          <a:p>
            <a:pPr>
              <a:spcAft>
                <a:spcPts val="400"/>
              </a:spcAft>
              <a:defRPr sz="1100">
                <a:solidFill>
                  <a:srgbClr val="E2E8F0"/>
                </a:solidFill>
                <a:latin typeface="Segoe UI"/>
              </a:defRPr>
            </a:pPr>
            <a:r>
              <a:t>• Transparent 0–100 integer operational risk rules.</a:t>
            </a:r>
          </a:p>
          <a:p>
            <a:pPr>
              <a:spcAft>
                <a:spcPts val="400"/>
              </a:spcAft>
              <a:defRPr sz="1100">
                <a:solidFill>
                  <a:srgbClr val="E2E8F0"/>
                </a:solidFill>
                <a:latin typeface="Segoe UI"/>
              </a:defRPr>
            </a:pPr>
            <a:r>
              <a:t>• Linear additive timeline clock with category deduplication.</a:t>
            </a:r>
          </a:p>
          <a:p>
            <a:pPr>
              <a:spcAft>
                <a:spcPts val="400"/>
              </a:spcAft>
              <a:defRPr sz="1100">
                <a:solidFill>
                  <a:srgbClr val="E2E8F0"/>
                </a:solidFill>
                <a:latin typeface="Segoe UI"/>
              </a:defRPr>
            </a:pPr>
            <a:r>
              <a:t>• Zero black-box guessing: every point maps to a code-backed blocker.</a:t>
            </a:r>
          </a:p>
          <a:p>
            <a:pPr>
              <a:spcAft>
                <a:spcPts val="400"/>
              </a:spcAft>
              <a:defRPr sz="1100">
                <a:solidFill>
                  <a:srgbClr val="E2E8F0"/>
                </a:solidFill>
                <a:latin typeface="Segoe UI"/>
              </a:defRPr>
            </a:pPr>
            <a:r>
              <a:t>• Separates priority urgency from projected delay minutes.</a:t>
            </a:r>
          </a:p>
        </p:txBody>
      </p:sp>
      <p:sp>
        <p:nvSpPr>
          <p:cNvPr id="7" name="Rounded Rectangle 6"/>
          <p:cNvSpPr/>
          <p:nvPr/>
        </p:nvSpPr>
        <p:spPr>
          <a:xfrm>
            <a:off x="6217920" y="1828800"/>
            <a:ext cx="5242255" cy="18288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011680"/>
            <a:ext cx="4876495" cy="1463040"/>
          </a:xfrm>
          <a:prstGeom prst="rect">
            <a:avLst/>
          </a:prstGeom>
          <a:noFill/>
        </p:spPr>
        <p:txBody>
          <a:bodyPr wrap="square" lIns="0" tIns="0" rIns="0" bIns="0">
            <a:spAutoFit/>
          </a:bodyPr>
          <a:lstStyle/>
          <a:p>
            <a:pPr>
              <a:spcAft>
                <a:spcPts val="800"/>
              </a:spcAft>
              <a:defRPr sz="1400" b="1">
                <a:solidFill>
                  <a:srgbClr val="38BDF8"/>
                </a:solidFill>
                <a:latin typeface="Segoe UI"/>
              </a:defRPr>
            </a:pPr>
            <a:r>
              <a:t>2. Grounded AI Briefings</a:t>
            </a:r>
          </a:p>
          <a:p>
            <a:pPr>
              <a:spcAft>
                <a:spcPts val="400"/>
              </a:spcAft>
              <a:defRPr sz="1100">
                <a:solidFill>
                  <a:srgbClr val="E2E8F0"/>
                </a:solidFill>
                <a:latin typeface="Segoe UI"/>
              </a:defRPr>
            </a:pPr>
            <a:r>
              <a:t>• AI Care Coordinator aggregates live ServiceNow table records.</a:t>
            </a:r>
          </a:p>
          <a:p>
            <a:pPr>
              <a:spcAft>
                <a:spcPts val="400"/>
              </a:spcAft>
              <a:defRPr sz="1100">
                <a:solidFill>
                  <a:srgbClr val="E2E8F0"/>
                </a:solidFill>
                <a:latin typeface="Segoe UI"/>
              </a:defRPr>
            </a:pPr>
            <a:r>
              <a:t>• Answers natural language queries strictly using in-scope table state.</a:t>
            </a:r>
          </a:p>
          <a:p>
            <a:pPr>
              <a:spcAft>
                <a:spcPts val="400"/>
              </a:spcAft>
              <a:defRPr sz="1100">
                <a:solidFill>
                  <a:srgbClr val="E2E8F0"/>
                </a:solidFill>
                <a:latin typeface="Segoe UI"/>
              </a:defRPr>
            </a:pPr>
            <a:r>
              <a:t>• Never hallucinates clinical diagnoses or unsupported operational claims.</a:t>
            </a:r>
          </a:p>
          <a:p>
            <a:pPr>
              <a:spcAft>
                <a:spcPts val="400"/>
              </a:spcAft>
              <a:defRPr sz="1100">
                <a:solidFill>
                  <a:srgbClr val="E2E8F0"/>
                </a:solidFill>
                <a:latin typeface="Segoe UI"/>
              </a:defRPr>
            </a:pPr>
            <a:r>
              <a:t>• Fluent Now Assist Skill ready; deterministic fallback active.</a:t>
            </a:r>
          </a:p>
        </p:txBody>
      </p:sp>
      <p:sp>
        <p:nvSpPr>
          <p:cNvPr id="9" name="Rounded Rectangle 8"/>
          <p:cNvSpPr/>
          <p:nvPr/>
        </p:nvSpPr>
        <p:spPr>
          <a:xfrm>
            <a:off x="731520" y="3931920"/>
            <a:ext cx="5120640" cy="18288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14800"/>
            <a:ext cx="4754880" cy="1463040"/>
          </a:xfrm>
          <a:prstGeom prst="rect">
            <a:avLst/>
          </a:prstGeom>
          <a:noFill/>
        </p:spPr>
        <p:txBody>
          <a:bodyPr wrap="square" lIns="0" tIns="0" rIns="0" bIns="0">
            <a:spAutoFit/>
          </a:bodyPr>
          <a:lstStyle/>
          <a:p>
            <a:pPr>
              <a:spcAft>
                <a:spcPts val="800"/>
              </a:spcAft>
              <a:defRPr sz="1400" b="1">
                <a:solidFill>
                  <a:srgbClr val="F59E0B"/>
                </a:solidFill>
                <a:latin typeface="Segoe UI"/>
              </a:defRPr>
            </a:pPr>
            <a:r>
              <a:t>3. Fix It For Me (Human-Approved)</a:t>
            </a:r>
          </a:p>
          <a:p>
            <a:pPr>
              <a:spcAft>
                <a:spcPts val="400"/>
              </a:spcAft>
              <a:defRPr sz="1100">
                <a:solidFill>
                  <a:srgbClr val="E2E8F0"/>
                </a:solidFill>
                <a:latin typeface="Segoe UI"/>
              </a:defRPr>
            </a:pPr>
            <a:r>
              <a:t>• AI formulates read-only proposals for allowlisted operational fixes.</a:t>
            </a:r>
          </a:p>
          <a:p>
            <a:pPr>
              <a:spcAft>
                <a:spcPts val="400"/>
              </a:spcAft>
              <a:defRPr sz="1100">
                <a:solidFill>
                  <a:srgbClr val="E2E8F0"/>
                </a:solidFill>
                <a:latin typeface="Segoe UI"/>
              </a:defRPr>
            </a:pPr>
            <a:r>
              <a:t>• Zero autonomous database mutation: targets remain 100% untouched.</a:t>
            </a:r>
          </a:p>
          <a:p>
            <a:pPr>
              <a:spcAft>
                <a:spcPts val="400"/>
              </a:spcAft>
              <a:defRPr sz="1100">
                <a:solidFill>
                  <a:srgbClr val="E2E8F0"/>
                </a:solidFill>
                <a:latin typeface="Segoe UI"/>
              </a:defRPr>
            </a:pPr>
            <a:r>
              <a:t>• Authorized staff reviews rationale and clicks 'Approve &amp; Execute'.</a:t>
            </a:r>
          </a:p>
          <a:p>
            <a:pPr>
              <a:spcAft>
                <a:spcPts val="400"/>
              </a:spcAft>
              <a:defRPr sz="1100">
                <a:solidFill>
                  <a:srgbClr val="E2E8F0"/>
                </a:solidFill>
                <a:latin typeface="Segoe UI"/>
              </a:defRPr>
            </a:pPr>
            <a:r>
              <a:t>• Server authorization check, target revalidation &amp; idempotency lock.</a:t>
            </a:r>
          </a:p>
        </p:txBody>
      </p:sp>
      <p:sp>
        <p:nvSpPr>
          <p:cNvPr id="11" name="Rounded Rectangle 10"/>
          <p:cNvSpPr/>
          <p:nvPr/>
        </p:nvSpPr>
        <p:spPr>
          <a:xfrm>
            <a:off x="6217920" y="3931920"/>
            <a:ext cx="5242255" cy="18288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114800"/>
            <a:ext cx="4876495" cy="1463040"/>
          </a:xfrm>
          <a:prstGeom prst="rect">
            <a:avLst/>
          </a:prstGeom>
          <a:noFill/>
        </p:spPr>
        <p:txBody>
          <a:bodyPr wrap="square" lIns="0" tIns="0" rIns="0" bIns="0">
            <a:spAutoFit/>
          </a:bodyPr>
          <a:lstStyle/>
          <a:p>
            <a:pPr>
              <a:spcAft>
                <a:spcPts val="800"/>
              </a:spcAft>
              <a:defRPr sz="1400" b="1">
                <a:solidFill>
                  <a:srgbClr val="10B981"/>
                </a:solidFill>
                <a:latin typeface="Segoe UI"/>
              </a:defRPr>
            </a:pPr>
            <a:r>
              <a:t>4. Autonomous Background Schedulers</a:t>
            </a:r>
          </a:p>
          <a:p>
            <a:pPr>
              <a:spcAft>
                <a:spcPts val="400"/>
              </a:spcAft>
              <a:defRPr sz="1100">
                <a:solidFill>
                  <a:srgbClr val="E2E8F0"/>
                </a:solidFill>
                <a:latin typeface="Segoe UI"/>
              </a:defRPr>
            </a:pPr>
            <a:r>
              <a:t>• TPA Auto-Chaser executes every 15m to monitor insurance pre-auth SLAs.</a:t>
            </a:r>
          </a:p>
          <a:p>
            <a:pPr>
              <a:spcAft>
                <a:spcPts val="400"/>
              </a:spcAft>
              <a:defRPr sz="1100">
                <a:solidFill>
                  <a:srgbClr val="E2E8F0"/>
                </a:solidFill>
                <a:latin typeface="Segoe UI"/>
              </a:defRPr>
            </a:pPr>
            <a:r>
              <a:t>• HandoffEngine tracks 30-minute shift acknowledgment deadlines.</a:t>
            </a:r>
          </a:p>
          <a:p>
            <a:pPr>
              <a:spcAft>
                <a:spcPts val="400"/>
              </a:spcAft>
              <a:defRPr sz="1100">
                <a:solidFill>
                  <a:srgbClr val="E2E8F0"/>
                </a:solidFill>
                <a:latin typeface="Segoe UI"/>
              </a:defRPr>
            </a:pPr>
            <a:r>
              <a:t>• Async business rules recalculate risk &amp; prediction on any data change.</a:t>
            </a:r>
          </a:p>
          <a:p>
            <a:pPr>
              <a:spcAft>
                <a:spcPts val="400"/>
              </a:spcAft>
              <a:defRPr sz="1100">
                <a:solidFill>
                  <a:srgbClr val="E2E8F0"/>
                </a:solidFill>
                <a:latin typeface="Segoe UI"/>
              </a:defRPr>
            </a:pPr>
            <a:r>
              <a:t>• Automatic escalation record creation when risk crosses High tier (&gt;= 60).</a:t>
            </a:r>
          </a:p>
        </p:txBody>
      </p:sp>
      <p:sp>
        <p:nvSpPr>
          <p:cNvPr id="13" name="Rounded Rectangle 12"/>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PLATFORM FIT: </a:t>
            </a:r>
            <a:r>
              <a:rPr sz="1100">
                <a:solidFill>
                  <a:srgbClr val="E2E8F0"/>
                </a:solidFill>
                <a:latin typeface="Segoe UI"/>
              </a:rPr>
              <a:t>ServiceNow is the ideal System of Action: providing auditable records, enterprise RBAC, and deterministic event engines.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14B8A6"/>
                </a:solidFill>
                <a:latin typeface="Segoe UI"/>
              </a:defRPr>
            </a:pPr>
            <a:r>
              <a:t>SYSTEM ARCHITECTURE</a:t>
            </a:r>
          </a:p>
        </p:txBody>
      </p:sp>
      <p:sp>
        <p:nvSpPr>
          <p:cNvPr id="3" name="TextBox 2"/>
          <p:cNvSpPr txBox="1"/>
          <p:nvPr/>
        </p:nvSpPr>
        <p:spPr>
          <a:xfrm>
            <a:off x="731520" y="685800"/>
            <a:ext cx="10698480" cy="502920"/>
          </a:xfrm>
          <a:prstGeom prst="rect">
            <a:avLst/>
          </a:prstGeom>
          <a:noFill/>
        </p:spPr>
        <p:txBody>
          <a:bodyPr wrap="square" lIns="0" tIns="0" rIns="0" bIns="0">
            <a:spAutoFit/>
          </a:bodyPr>
          <a:lstStyle/>
          <a:p>
            <a:pPr>
              <a:defRPr sz="2400" b="1">
                <a:solidFill>
                  <a:srgbClr val="FFFFFF"/>
                </a:solidFill>
                <a:latin typeface="Segoe UI"/>
              </a:defRPr>
            </a:pPr>
            <a:r>
              <a:t>End-to-End Enterprise Architecture Overview</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Segoe UI"/>
              </a:defRPr>
            </a:pPr>
            <a:r>
              <a:t>5-layer scoped ServiceNow stack: Presentation, Security APIs, Operational Engines, Data Model, Automation.</a:t>
            </a:r>
          </a:p>
        </p:txBody>
      </p:sp>
      <p:pic>
        <p:nvPicPr>
          <p:cNvPr id="5" name="Picture 4" descr="architecture_overview.png"/>
          <p:cNvPicPr>
            <a:picLocks noChangeAspect="1"/>
          </p:cNvPicPr>
          <p:nvPr/>
        </p:nvPicPr>
        <p:blipFill>
          <a:blip r:embed="rId2"/>
          <a:stretch>
            <a:fillRect/>
          </a:stretch>
        </p:blipFill>
        <p:spPr>
          <a:xfrm>
            <a:off x="731520" y="1737360"/>
            <a:ext cx="10728655" cy="4160520"/>
          </a:xfrm>
          <a:prstGeom prst="rect">
            <a:avLst/>
          </a:prstGeom>
        </p:spPr>
      </p:pic>
      <p:sp>
        <p:nvSpPr>
          <p:cNvPr id="6" name="Rounded Rectangle 5"/>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LAYER SUMMARY: </a:t>
            </a:r>
            <a:r>
              <a:rPr sz="1100">
                <a:solidFill>
                  <a:srgbClr val="E2E8F0"/>
                </a:solidFill>
                <a:latin typeface="Segoe UI"/>
              </a:rPr>
              <a:t>Presentation: React 18 SPA in UI Page | Security: Scoped REST APIs &amp; ACLs | Engines: 6 Script Includes | Data: 8 Scoped Tables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14B8A6"/>
                </a:solidFill>
                <a:latin typeface="Segoe UI"/>
              </a:defRPr>
            </a:pPr>
            <a:r>
              <a:t>COMPUTATIONAL LOGIC</a:t>
            </a:r>
          </a:p>
        </p:txBody>
      </p:sp>
      <p:sp>
        <p:nvSpPr>
          <p:cNvPr id="3" name="TextBox 2"/>
          <p:cNvSpPr txBox="1"/>
          <p:nvPr/>
        </p:nvSpPr>
        <p:spPr>
          <a:xfrm>
            <a:off x="731520" y="685800"/>
            <a:ext cx="10698480" cy="502920"/>
          </a:xfrm>
          <a:prstGeom prst="rect">
            <a:avLst/>
          </a:prstGeom>
          <a:noFill/>
        </p:spPr>
        <p:txBody>
          <a:bodyPr wrap="square" lIns="0" tIns="0" rIns="0" bIns="0">
            <a:spAutoFit/>
          </a:bodyPr>
          <a:lstStyle/>
          <a:p>
            <a:pPr>
              <a:defRPr sz="2400" b="1">
                <a:solidFill>
                  <a:srgbClr val="FFFFFF"/>
                </a:solidFill>
                <a:latin typeface="Segoe UI"/>
              </a:defRPr>
            </a:pPr>
            <a:r>
              <a:t>Deterministic Risk Scoring vs. Discharge Prediction</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Segoe UI"/>
              </a:defRPr>
            </a:pPr>
            <a:r>
              <a:t>Separating Operational Priority Urgency (0–100) from Delay Timeline Clock (+Minutes).</a:t>
            </a:r>
          </a:p>
        </p:txBody>
      </p:sp>
      <p:pic>
        <p:nvPicPr>
          <p:cNvPr id="5" name="Picture 4" descr="risk_vs_prediction.png"/>
          <p:cNvPicPr>
            <a:picLocks noChangeAspect="1"/>
          </p:cNvPicPr>
          <p:nvPr/>
        </p:nvPicPr>
        <p:blipFill>
          <a:blip r:embed="rId2"/>
          <a:stretch>
            <a:fillRect/>
          </a:stretch>
        </p:blipFill>
        <p:spPr>
          <a:xfrm>
            <a:off x="731520" y="1737360"/>
            <a:ext cx="10728655" cy="4160520"/>
          </a:xfrm>
          <a:prstGeom prst="rect">
            <a:avLst/>
          </a:prstGeom>
        </p:spPr>
      </p:pic>
      <p:sp>
        <p:nvSpPr>
          <p:cNvPr id="6" name="Rounded Rectangle 5"/>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CODE-BACKED LOGIC: </a:t>
            </a:r>
            <a:r>
              <a:rPr sz="1100">
                <a:solidFill>
                  <a:srgbClr val="E2E8F0"/>
                </a:solidFill>
                <a:latin typeface="Segoe UI"/>
              </a:rPr>
              <a:t>Deterministic integer score (0–100) drives triage urgency; Linear additive clock (+Minutes) drives schedule transparency. Neither is an ML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14B8A6"/>
                </a:solidFill>
                <a:latin typeface="Segoe UI"/>
              </a:defRPr>
            </a:pPr>
            <a:r>
              <a:t>LIVE PLATFORM DEMONSTRATION</a:t>
            </a:r>
          </a:p>
        </p:txBody>
      </p:sp>
      <p:sp>
        <p:nvSpPr>
          <p:cNvPr id="3" name="TextBox 2"/>
          <p:cNvSpPr txBox="1"/>
          <p:nvPr/>
        </p:nvSpPr>
        <p:spPr>
          <a:xfrm>
            <a:off x="731520" y="685800"/>
            <a:ext cx="10698480" cy="502920"/>
          </a:xfrm>
          <a:prstGeom prst="rect">
            <a:avLst/>
          </a:prstGeom>
          <a:noFill/>
        </p:spPr>
        <p:txBody>
          <a:bodyPr wrap="square" lIns="0" tIns="0" rIns="0" bIns="0">
            <a:spAutoFit/>
          </a:bodyPr>
          <a:lstStyle/>
          <a:p>
            <a:pPr>
              <a:defRPr sz="2400" b="1">
                <a:solidFill>
                  <a:srgbClr val="FFFFFF"/>
                </a:solidFill>
                <a:latin typeface="Segoe UI"/>
              </a:defRPr>
            </a:pPr>
            <a:r>
              <a:t>Command Center &amp; Discharge Pipeline</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Segoe UI"/>
              </a:defRPr>
            </a:pPr>
            <a:r>
              <a:t>Real-time bed triage, urgency badges, and bottleneck visibility across all active inpatient beds.</a:t>
            </a:r>
          </a:p>
        </p:txBody>
      </p:sp>
      <p:pic>
        <p:nvPicPr>
          <p:cNvPr id="5" name="Picture 4" descr="01_command_center.png"/>
          <p:cNvPicPr>
            <a:picLocks noChangeAspect="1"/>
          </p:cNvPicPr>
          <p:nvPr/>
        </p:nvPicPr>
        <p:blipFill>
          <a:blip r:embed="rId2"/>
          <a:stretch>
            <a:fillRect/>
          </a:stretch>
        </p:blipFill>
        <p:spPr>
          <a:xfrm>
            <a:off x="731520" y="1737360"/>
            <a:ext cx="5212080" cy="4160520"/>
          </a:xfrm>
          <a:prstGeom prst="rect">
            <a:avLst/>
          </a:prstGeom>
        </p:spPr>
      </p:pic>
      <p:pic>
        <p:nvPicPr>
          <p:cNvPr id="6" name="Picture 5" descr="02_discharge_pipeline.png"/>
          <p:cNvPicPr>
            <a:picLocks noChangeAspect="1"/>
          </p:cNvPicPr>
          <p:nvPr/>
        </p:nvPicPr>
        <p:blipFill>
          <a:blip r:embed="rId3"/>
          <a:stretch>
            <a:fillRect/>
          </a:stretch>
        </p:blipFill>
        <p:spPr>
          <a:xfrm>
            <a:off x="6217920" y="1737360"/>
            <a:ext cx="5242255" cy="4160520"/>
          </a:xfrm>
          <a:prstGeom prst="rect">
            <a:avLst/>
          </a:prstGeom>
        </p:spPr>
      </p:pic>
      <p:sp>
        <p:nvSpPr>
          <p:cNvPr id="7" name="Rounded Rectangle 6"/>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LIVE SYSTEM: </a:t>
            </a:r>
            <a:r>
              <a:rPr sz="1100">
                <a:solidFill>
                  <a:srgbClr val="E2E8F0"/>
                </a:solidFill>
                <a:latin typeface="Segoe UI"/>
              </a:rPr>
              <a:t>Real live application captures: Left = Command Center Dashboard with Triage Badges | Right = Pipeline View by Stage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14B8A6"/>
                </a:solidFill>
                <a:latin typeface="Segoe UI"/>
              </a:defRPr>
            </a:pPr>
            <a:r>
              <a:t>PATIENT DEEP-DIVE</a:t>
            </a:r>
          </a:p>
        </p:txBody>
      </p:sp>
      <p:sp>
        <p:nvSpPr>
          <p:cNvPr id="3" name="TextBox 2"/>
          <p:cNvSpPr txBox="1"/>
          <p:nvPr/>
        </p:nvSpPr>
        <p:spPr>
          <a:xfrm>
            <a:off x="731520" y="685800"/>
            <a:ext cx="10698480" cy="502920"/>
          </a:xfrm>
          <a:prstGeom prst="rect">
            <a:avLst/>
          </a:prstGeom>
          <a:noFill/>
        </p:spPr>
        <p:txBody>
          <a:bodyPr wrap="square" lIns="0" tIns="0" rIns="0" bIns="0">
            <a:spAutoFit/>
          </a:bodyPr>
          <a:lstStyle/>
          <a:p>
            <a:pPr>
              <a:defRPr sz="2400" b="1">
                <a:solidFill>
                  <a:srgbClr val="FFFFFF"/>
                </a:solidFill>
                <a:latin typeface="Segoe UI"/>
              </a:defRPr>
            </a:pPr>
            <a:r>
              <a:t>Encounter 360: Full Operational Telemetry</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Segoe UI"/>
              </a:defRPr>
            </a:pPr>
            <a:r>
              <a:t>Comprehensive 360-degree visibility into blockers, clinical milestones, shift handoffs, and delay clock.</a:t>
            </a:r>
          </a:p>
        </p:txBody>
      </p:sp>
      <p:pic>
        <p:nvPicPr>
          <p:cNvPr id="5" name="Picture 4" descr="03_encounter_360.png"/>
          <p:cNvPicPr>
            <a:picLocks noChangeAspect="1"/>
          </p:cNvPicPr>
          <p:nvPr/>
        </p:nvPicPr>
        <p:blipFill>
          <a:blip r:embed="rId2"/>
          <a:stretch>
            <a:fillRect/>
          </a:stretch>
        </p:blipFill>
        <p:spPr>
          <a:xfrm>
            <a:off x="731520" y="1737360"/>
            <a:ext cx="6858000" cy="4160520"/>
          </a:xfrm>
          <a:prstGeom prst="rect">
            <a:avLst/>
          </a:prstGeom>
        </p:spPr>
      </p:pic>
      <p:sp>
        <p:nvSpPr>
          <p:cNvPr id="6" name="Rounded Rectangle 5"/>
          <p:cNvSpPr/>
          <p:nvPr/>
        </p:nvSpPr>
        <p:spPr>
          <a:xfrm>
            <a:off x="7863840" y="1737360"/>
            <a:ext cx="3596335" cy="416052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1920240"/>
            <a:ext cx="3230575" cy="3794760"/>
          </a:xfrm>
          <a:prstGeom prst="rect">
            <a:avLst/>
          </a:prstGeom>
          <a:noFill/>
        </p:spPr>
        <p:txBody>
          <a:bodyPr wrap="square" lIns="0" tIns="0" rIns="0" bIns="0">
            <a:spAutoFit/>
          </a:bodyPr>
          <a:lstStyle/>
          <a:p>
            <a:pPr>
              <a:spcAft>
                <a:spcPts val="800"/>
              </a:spcAft>
              <a:defRPr sz="1400" b="1">
                <a:solidFill>
                  <a:srgbClr val="14B8A6"/>
                </a:solidFill>
                <a:latin typeface="Segoe UI"/>
              </a:defRPr>
            </a:pPr>
            <a:r>
              <a:t>Encounter 360 Signals</a:t>
            </a:r>
          </a:p>
          <a:p>
            <a:pPr>
              <a:spcAft>
                <a:spcPts val="400"/>
              </a:spcAft>
              <a:defRPr sz="1100">
                <a:solidFill>
                  <a:srgbClr val="E2E8F0"/>
                </a:solidFill>
                <a:latin typeface="Segoe UI"/>
              </a:defRPr>
            </a:pPr>
            <a:r>
              <a:t>• Patient Context: Synthetic test record ENC1000007 (Bed 304)</a:t>
            </a:r>
          </a:p>
          <a:p>
            <a:pPr>
              <a:spcAft>
                <a:spcPts val="400"/>
              </a:spcAft>
              <a:defRPr sz="1100">
                <a:solidFill>
                  <a:srgbClr val="E2E8F0"/>
                </a:solidFill>
                <a:latin typeface="Segoe UI"/>
              </a:defRPr>
            </a:pPr>
            <a:r>
              <a:t>• Promised Discharge Deadline vs. Projected Delay Clock (+45m)</a:t>
            </a:r>
          </a:p>
          <a:p>
            <a:pPr>
              <a:spcAft>
                <a:spcPts val="400"/>
              </a:spcAft>
              <a:defRPr sz="1100">
                <a:solidFill>
                  <a:srgbClr val="E2E8F0"/>
                </a:solidFill>
                <a:latin typeface="Segoe UI"/>
              </a:defRPr>
            </a:pPr>
            <a:r>
              <a:t>• Discrete Signal Breakdown: Exact points contributing to 75 Risk Score</a:t>
            </a:r>
          </a:p>
          <a:p>
            <a:pPr>
              <a:spcAft>
                <a:spcPts val="400"/>
              </a:spcAft>
              <a:defRPr sz="1100">
                <a:solidFill>
                  <a:srgbClr val="E2E8F0"/>
                </a:solidFill>
                <a:latin typeface="Segoe UI"/>
              </a:defRPr>
            </a:pPr>
            <a:r>
              <a:t>• Active Blockers Tab: TPA Pre-auth delay categorized with owner &amp; SLA</a:t>
            </a:r>
          </a:p>
          <a:p>
            <a:pPr>
              <a:spcAft>
                <a:spcPts val="400"/>
              </a:spcAft>
              <a:defRPr sz="1100">
                <a:solidFill>
                  <a:srgbClr val="E2E8F0"/>
                </a:solidFill>
                <a:latin typeface="Segoe UI"/>
              </a:defRPr>
            </a:pPr>
            <a:r>
              <a:t>• Milestones Tab: Cardiology sign-off vs. post-acute equipment</a:t>
            </a:r>
          </a:p>
          <a:p>
            <a:pPr>
              <a:spcAft>
                <a:spcPts val="400"/>
              </a:spcAft>
              <a:defRPr sz="1100">
                <a:solidFill>
                  <a:srgbClr val="E2E8F0"/>
                </a:solidFill>
                <a:latin typeface="Segoe UI"/>
              </a:defRPr>
            </a:pPr>
            <a:r>
              <a:t>• Shift Handoffs Tab: Sender, receiver, SBAR summary, and ACK countdown timer</a:t>
            </a:r>
          </a:p>
          <a:p>
            <a:pPr>
              <a:spcAft>
                <a:spcPts val="400"/>
              </a:spcAft>
              <a:defRPr sz="1100">
                <a:solidFill>
                  <a:srgbClr val="E2E8F0"/>
                </a:solidFill>
                <a:latin typeface="Segoe UI"/>
              </a:defRPr>
            </a:pPr>
            <a:r>
              <a:t>• Zero PHI: Strictly synthetic data for compliant testing</a:t>
            </a:r>
          </a:p>
        </p:txBody>
      </p:sp>
      <p:sp>
        <p:nvSpPr>
          <p:cNvPr id="8" name="Rounded Rectangle 7"/>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TELEMETRY: </a:t>
            </a:r>
            <a:r>
              <a:rPr sz="1100">
                <a:solidFill>
                  <a:srgbClr val="E2E8F0"/>
                </a:solidFill>
                <a:latin typeface="Segoe UI"/>
              </a:rPr>
              <a:t>Encounter 360 consolidates fragmented department telemetry into a single, real-time operational pane.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14B8A6"/>
                </a:solidFill>
                <a:latin typeface="Segoe UI"/>
              </a:defRPr>
            </a:pPr>
            <a:r>
              <a:t>CONVERSATIONAL INTELLIGENCE</a:t>
            </a:r>
          </a:p>
        </p:txBody>
      </p:sp>
      <p:sp>
        <p:nvSpPr>
          <p:cNvPr id="3" name="TextBox 2"/>
          <p:cNvSpPr txBox="1"/>
          <p:nvPr/>
        </p:nvSpPr>
        <p:spPr>
          <a:xfrm>
            <a:off x="731520" y="685800"/>
            <a:ext cx="10698480" cy="502920"/>
          </a:xfrm>
          <a:prstGeom prst="rect">
            <a:avLst/>
          </a:prstGeom>
          <a:noFill/>
        </p:spPr>
        <p:txBody>
          <a:bodyPr wrap="square" lIns="0" tIns="0" rIns="0" bIns="0">
            <a:spAutoFit/>
          </a:bodyPr>
          <a:lstStyle/>
          <a:p>
            <a:pPr>
              <a:defRPr sz="2400" b="1">
                <a:solidFill>
                  <a:srgbClr val="FFFFFF"/>
                </a:solidFill>
                <a:latin typeface="Segoe UI"/>
              </a:defRPr>
            </a:pPr>
            <a:r>
              <a:t>AI Care Coordinator: Grounded Operational Briefings</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Segoe UI"/>
              </a:defRPr>
            </a:pPr>
            <a:r>
              <a:t>Instant, plain-language operational summaries grounded directly in ServiceNow tables without hallucinations.</a:t>
            </a:r>
          </a:p>
        </p:txBody>
      </p:sp>
      <p:pic>
        <p:nvPicPr>
          <p:cNvPr id="5" name="Picture 4" descr="04_ai_coordinator_chat.png"/>
          <p:cNvPicPr>
            <a:picLocks noChangeAspect="1"/>
          </p:cNvPicPr>
          <p:nvPr/>
        </p:nvPicPr>
        <p:blipFill>
          <a:blip r:embed="rId2"/>
          <a:stretch>
            <a:fillRect/>
          </a:stretch>
        </p:blipFill>
        <p:spPr>
          <a:xfrm>
            <a:off x="731520" y="1737360"/>
            <a:ext cx="6858000" cy="4160520"/>
          </a:xfrm>
          <a:prstGeom prst="rect">
            <a:avLst/>
          </a:prstGeom>
        </p:spPr>
      </p:pic>
      <p:sp>
        <p:nvSpPr>
          <p:cNvPr id="6" name="Rounded Rectangle 5"/>
          <p:cNvSpPr/>
          <p:nvPr/>
        </p:nvSpPr>
        <p:spPr>
          <a:xfrm>
            <a:off x="7863840" y="1737360"/>
            <a:ext cx="3596335" cy="41605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1920240"/>
            <a:ext cx="3230575" cy="3794760"/>
          </a:xfrm>
          <a:prstGeom prst="rect">
            <a:avLst/>
          </a:prstGeom>
          <a:noFill/>
        </p:spPr>
        <p:txBody>
          <a:bodyPr wrap="square" lIns="0" tIns="0" rIns="0" bIns="0">
            <a:spAutoFit/>
          </a:bodyPr>
          <a:lstStyle/>
          <a:p>
            <a:pPr>
              <a:spcAft>
                <a:spcPts val="800"/>
              </a:spcAft>
              <a:defRPr sz="1400" b="1">
                <a:solidFill>
                  <a:srgbClr val="38BDF8"/>
                </a:solidFill>
                <a:latin typeface="Segoe UI"/>
              </a:defRPr>
            </a:pPr>
            <a:r>
              <a:t>Grounding &amp; Safety</a:t>
            </a:r>
          </a:p>
          <a:p>
            <a:pPr>
              <a:spcAft>
                <a:spcPts val="400"/>
              </a:spcAft>
              <a:defRPr sz="1100">
                <a:solidFill>
                  <a:srgbClr val="E2E8F0"/>
                </a:solidFill>
                <a:latin typeface="Segoe UI"/>
              </a:defRPr>
            </a:pPr>
            <a:r>
              <a:t>• Query: 'What is the current status of Bed 304?'</a:t>
            </a:r>
          </a:p>
          <a:p>
            <a:pPr>
              <a:spcAft>
                <a:spcPts val="400"/>
              </a:spcAft>
              <a:defRPr sz="1100">
                <a:solidFill>
                  <a:srgbClr val="E2E8F0"/>
                </a:solidFill>
                <a:latin typeface="Segoe UI"/>
              </a:defRPr>
            </a:pPr>
            <a:r>
              <a:t>• Live Table Context: Aggregates records from encounter, blocker, tpa_case, and handoff tables</a:t>
            </a:r>
          </a:p>
          <a:p>
            <a:pPr>
              <a:spcAft>
                <a:spcPts val="400"/>
              </a:spcAft>
              <a:defRPr sz="1100">
                <a:solidFill>
                  <a:srgbClr val="E2E8F0"/>
                </a:solidFill>
                <a:latin typeface="Segoe UI"/>
              </a:defRPr>
            </a:pPr>
            <a:r>
              <a:t>• Grounded Synthesis: Directly names Star Health TPA pre-auth as the primary bottleneck</a:t>
            </a:r>
          </a:p>
          <a:p>
            <a:pPr>
              <a:spcAft>
                <a:spcPts val="400"/>
              </a:spcAft>
              <a:defRPr sz="1100">
                <a:solidFill>
                  <a:srgbClr val="E2E8F0"/>
                </a:solidFill>
                <a:latin typeface="Segoe UI"/>
              </a:defRPr>
            </a:pPr>
            <a:r>
              <a:t>• Root-Cause Attribution: Explains the exact +45m delay contribution</a:t>
            </a:r>
          </a:p>
          <a:p>
            <a:pPr>
              <a:spcAft>
                <a:spcPts val="400"/>
              </a:spcAft>
              <a:defRPr sz="1100">
                <a:solidFill>
                  <a:srgbClr val="E2E8F0"/>
                </a:solidFill>
                <a:latin typeface="Segoe UI"/>
              </a:defRPr>
            </a:pPr>
            <a:r>
              <a:t>• Non-Clinical Boundary: Strictly addresses operational blockers; never offers medical advice</a:t>
            </a:r>
          </a:p>
          <a:p>
            <a:pPr>
              <a:spcAft>
                <a:spcPts val="400"/>
              </a:spcAft>
              <a:defRPr sz="1100">
                <a:solidFill>
                  <a:srgbClr val="E2E8F0"/>
                </a:solidFill>
                <a:latin typeface="Segoe UI"/>
              </a:defRPr>
            </a:pPr>
            <a:r>
              <a:t>• Fluent Integration Ready: Now Assist Skill defined in code; in-scope deterministic engine guarantees zero downtime</a:t>
            </a:r>
          </a:p>
        </p:txBody>
      </p:sp>
      <p:sp>
        <p:nvSpPr>
          <p:cNvPr id="8" name="Rounded Rectangle 7"/>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AI GOVERNANCE: </a:t>
            </a:r>
            <a:r>
              <a:rPr sz="1100">
                <a:solidFill>
                  <a:srgbClr val="E2E8F0"/>
                </a:solidFill>
                <a:latin typeface="Segoe UI"/>
              </a:rPr>
              <a:t>The AI Care Coordinator never guesses or hallucinates: every sentence is verified against active ServiceNow records.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14B8A6"/>
                </a:solidFill>
                <a:latin typeface="Segoe UI"/>
              </a:defRPr>
            </a:pPr>
            <a:r>
              <a:t>SAFE OPERATIONAL MUTATIONS</a:t>
            </a:r>
          </a:p>
        </p:txBody>
      </p:sp>
      <p:sp>
        <p:nvSpPr>
          <p:cNvPr id="3" name="TextBox 2"/>
          <p:cNvSpPr txBox="1"/>
          <p:nvPr/>
        </p:nvSpPr>
        <p:spPr>
          <a:xfrm>
            <a:off x="731520" y="685800"/>
            <a:ext cx="10698480" cy="502920"/>
          </a:xfrm>
          <a:prstGeom prst="rect">
            <a:avLst/>
          </a:prstGeom>
          <a:noFill/>
        </p:spPr>
        <p:txBody>
          <a:bodyPr wrap="square" lIns="0" tIns="0" rIns="0" bIns="0">
            <a:spAutoFit/>
          </a:bodyPr>
          <a:lstStyle/>
          <a:p>
            <a:pPr>
              <a:defRPr sz="2400" b="1">
                <a:solidFill>
                  <a:srgbClr val="FFFFFF"/>
                </a:solidFill>
                <a:latin typeface="Segoe UI"/>
              </a:defRPr>
            </a:pPr>
            <a:r>
              <a:t>'Fix It For Me': Human-Approved Action Lifecycle</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Segoe UI"/>
              </a:defRPr>
            </a:pPr>
            <a:r>
              <a:t>AI identifies bottlenecks and proposes allowlisted fixes. Authorized humans approve. Server validates and executes.</a:t>
            </a:r>
          </a:p>
        </p:txBody>
      </p:sp>
      <p:pic>
        <p:nvPicPr>
          <p:cNvPr id="5" name="Picture 4" descr="05_fix_it_for_me_action.png"/>
          <p:cNvPicPr>
            <a:picLocks noChangeAspect="1"/>
          </p:cNvPicPr>
          <p:nvPr/>
        </p:nvPicPr>
        <p:blipFill>
          <a:blip r:embed="rId2"/>
          <a:stretch>
            <a:fillRect/>
          </a:stretch>
        </p:blipFill>
        <p:spPr>
          <a:xfrm>
            <a:off x="731520" y="1737360"/>
            <a:ext cx="5212080" cy="4160520"/>
          </a:xfrm>
          <a:prstGeom prst="rect">
            <a:avLst/>
          </a:prstGeom>
        </p:spPr>
      </p:pic>
      <p:pic>
        <p:nvPicPr>
          <p:cNvPr id="6" name="Picture 5" descr="fix_it_for_me_sequence.png"/>
          <p:cNvPicPr>
            <a:picLocks noChangeAspect="1"/>
          </p:cNvPicPr>
          <p:nvPr/>
        </p:nvPicPr>
        <p:blipFill>
          <a:blip r:embed="rId3"/>
          <a:stretch>
            <a:fillRect/>
          </a:stretch>
        </p:blipFill>
        <p:spPr>
          <a:xfrm>
            <a:off x="6217920" y="1737360"/>
            <a:ext cx="5242255" cy="4160520"/>
          </a:xfrm>
          <a:prstGeom prst="rect">
            <a:avLst/>
          </a:prstGeom>
        </p:spPr>
      </p:pic>
      <p:sp>
        <p:nvSpPr>
          <p:cNvPr id="7" name="Rounded Rectangle 6"/>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SAFETY PIPELINE: </a:t>
            </a:r>
            <a:r>
              <a:rPr sz="1100">
                <a:solidFill>
                  <a:srgbClr val="E2E8F0"/>
                </a:solidFill>
                <a:latin typeface="Segoe UI"/>
              </a:rPr>
              <a:t>Proposal State Isolation -&gt; Role Verification (coordinator/admin) -&gt; Revalidation -&gt; Allowlisted Execution -&gt; Immutable Audit Trail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14B8A6"/>
                </a:solidFill>
                <a:latin typeface="Segoe UI"/>
              </a:defRPr>
            </a:pPr>
            <a:r>
              <a:t>AUTOMATION &amp; SYSTEM BOUNDARIES</a:t>
            </a:r>
          </a:p>
        </p:txBody>
      </p:sp>
      <p:sp>
        <p:nvSpPr>
          <p:cNvPr id="3" name="TextBox 2"/>
          <p:cNvSpPr txBox="1"/>
          <p:nvPr/>
        </p:nvSpPr>
        <p:spPr>
          <a:xfrm>
            <a:off x="731520" y="685800"/>
            <a:ext cx="10698480" cy="502920"/>
          </a:xfrm>
          <a:prstGeom prst="rect">
            <a:avLst/>
          </a:prstGeom>
          <a:noFill/>
        </p:spPr>
        <p:txBody>
          <a:bodyPr wrap="square" lIns="0" tIns="0" rIns="0" bIns="0">
            <a:spAutoFit/>
          </a:bodyPr>
          <a:lstStyle/>
          <a:p>
            <a:pPr>
              <a:defRPr sz="2400" b="1">
                <a:solidFill>
                  <a:srgbClr val="FFFFFF"/>
                </a:solidFill>
                <a:latin typeface="Segoe UI"/>
              </a:defRPr>
            </a:pPr>
            <a:r>
              <a:t>Autonomous Schedulers &amp; Honest Production Limits</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Segoe UI"/>
              </a:defRPr>
            </a:pPr>
            <a:r>
              <a:t>Clear distinction between verified working engines and unconfigured external integrations.</a:t>
            </a:r>
          </a:p>
        </p:txBody>
      </p:sp>
      <p:sp>
        <p:nvSpPr>
          <p:cNvPr id="5" name="Rounded Rectangle 4"/>
          <p:cNvSpPr/>
          <p:nvPr/>
        </p:nvSpPr>
        <p:spPr>
          <a:xfrm>
            <a:off x="731520" y="1828800"/>
            <a:ext cx="5120640"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754880" cy="3566160"/>
          </a:xfrm>
          <a:prstGeom prst="rect">
            <a:avLst/>
          </a:prstGeom>
          <a:noFill/>
        </p:spPr>
        <p:txBody>
          <a:bodyPr wrap="square" lIns="0" tIns="0" rIns="0" bIns="0">
            <a:spAutoFit/>
          </a:bodyPr>
          <a:lstStyle/>
          <a:p>
            <a:pPr>
              <a:spcAft>
                <a:spcPts val="800"/>
              </a:spcAft>
              <a:defRPr sz="1400" b="1">
                <a:solidFill>
                  <a:srgbClr val="10B981"/>
                </a:solidFill>
                <a:latin typeface="Segoe UI"/>
              </a:defRPr>
            </a:pPr>
            <a:r>
              <a:t>Verified Implemented Engines</a:t>
            </a:r>
          </a:p>
          <a:p>
            <a:pPr>
              <a:spcAft>
                <a:spcPts val="400"/>
              </a:spcAft>
              <a:defRPr sz="1100">
                <a:solidFill>
                  <a:srgbClr val="E2E8F0"/>
                </a:solidFill>
                <a:latin typeface="Segoe UI"/>
              </a:defRPr>
            </a:pPr>
            <a:r>
              <a:t>• TpaChaseEngine: Scheduled job runs every 15m; checks submission SLAs (15m/30m/45m intervals); logs chase attempts and updates follow-up counters.</a:t>
            </a:r>
          </a:p>
          <a:p>
            <a:pPr>
              <a:spcAft>
                <a:spcPts val="400"/>
              </a:spcAft>
              <a:defRPr sz="1100">
                <a:solidFill>
                  <a:srgbClr val="E2E8F0"/>
                </a:solidFill>
                <a:latin typeface="Segoe UI"/>
              </a:defRPr>
            </a:pPr>
            <a:r>
              <a:t>• HandoffEngine: Manages shift transitions; monitors 30-minute ACK SLA; auto-generates reminders and escalates unacknowledged handoffs into blockers.</a:t>
            </a:r>
          </a:p>
          <a:p>
            <a:pPr>
              <a:spcAft>
                <a:spcPts val="400"/>
              </a:spcAft>
              <a:defRPr sz="1100">
                <a:solidFill>
                  <a:srgbClr val="E2E8F0"/>
                </a:solidFill>
                <a:latin typeface="Segoe UI"/>
              </a:defRPr>
            </a:pPr>
            <a:r>
              <a:t>• OperationalRiskEngine: Async Business Rules recompute 0–100 risk score on any blocker, task, milestone, or handoff update.</a:t>
            </a:r>
          </a:p>
          <a:p>
            <a:pPr>
              <a:spcAft>
                <a:spcPts val="400"/>
              </a:spcAft>
              <a:defRPr sz="1100">
                <a:solidFill>
                  <a:srgbClr val="E2E8F0"/>
                </a:solidFill>
                <a:latin typeface="Segoe UI"/>
              </a:defRPr>
            </a:pPr>
            <a:r>
              <a:t>• DischargePredictionEngine: Dynamically recalculates predicted discharge time and delay minutes using category deduplication.</a:t>
            </a:r>
          </a:p>
          <a:p>
            <a:pPr>
              <a:spcAft>
                <a:spcPts val="400"/>
              </a:spcAft>
              <a:defRPr sz="1100">
                <a:solidFill>
                  <a:srgbClr val="E2E8F0"/>
                </a:solidFill>
                <a:latin typeface="Segoe UI"/>
              </a:defRPr>
            </a:pPr>
            <a:r>
              <a:t>• Escalation Synchronization: Automatically creates and deactivates x_caresetu_ai_escalation records at risk &gt;= 60 threshold.</a:t>
            </a:r>
          </a:p>
        </p:txBody>
      </p:sp>
      <p:sp>
        <p:nvSpPr>
          <p:cNvPr id="7" name="Rounded Rectangle 6"/>
          <p:cNvSpPr/>
          <p:nvPr/>
        </p:nvSpPr>
        <p:spPr>
          <a:xfrm>
            <a:off x="6217920" y="1828800"/>
            <a:ext cx="5242255" cy="3931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011680"/>
            <a:ext cx="4876495" cy="3566160"/>
          </a:xfrm>
          <a:prstGeom prst="rect">
            <a:avLst/>
          </a:prstGeom>
          <a:noFill/>
        </p:spPr>
        <p:txBody>
          <a:bodyPr wrap="square" lIns="0" tIns="0" rIns="0" bIns="0">
            <a:spAutoFit/>
          </a:bodyPr>
          <a:lstStyle/>
          <a:p>
            <a:pPr>
              <a:spcAft>
                <a:spcPts val="800"/>
              </a:spcAft>
              <a:defRPr sz="1400" b="1">
                <a:solidFill>
                  <a:srgbClr val="F59E0B"/>
                </a:solidFill>
                <a:latin typeface="Segoe UI"/>
              </a:defRPr>
            </a:pPr>
            <a:r>
              <a:t>Honest Production Boundaries</a:t>
            </a:r>
          </a:p>
          <a:p>
            <a:pPr>
              <a:spcAft>
                <a:spcPts val="400"/>
              </a:spcAft>
              <a:defRPr sz="1100">
                <a:solidFill>
                  <a:srgbClr val="E2E8F0"/>
                </a:solidFill>
                <a:latin typeface="Segoe UI"/>
              </a:defRPr>
            </a:pPr>
            <a:r>
              <a:t>• Authoritative Hospital EHR Telemetry: Not integrated; demo operates strictly on scoped synthetic records (ENC1000007).</a:t>
            </a:r>
          </a:p>
          <a:p>
            <a:pPr>
              <a:spcAft>
                <a:spcPts val="400"/>
              </a:spcAft>
              <a:defRPr sz="1100">
                <a:solidFill>
                  <a:srgbClr val="E2E8F0"/>
                </a:solidFill>
                <a:latin typeface="Segoe UI"/>
              </a:defRPr>
            </a:pPr>
            <a:r>
              <a:t>• External Insurer Live Clearinghouse: External payer API not configured; TPA chaser executes internal operational tracking lifecycle.</a:t>
            </a:r>
          </a:p>
          <a:p>
            <a:pPr>
              <a:spcAft>
                <a:spcPts val="400"/>
              </a:spcAft>
              <a:defRPr sz="1100">
                <a:solidFill>
                  <a:srgbClr val="E2E8F0"/>
                </a:solidFill>
                <a:latin typeface="Segoe UI"/>
              </a:defRPr>
            </a:pPr>
            <a:r>
              <a:t>• Emergency Operations Module: Surge view and rapid blocker triage are fully implemented in UI and data, but hospital-wide bed census telemetry is unconfigured.</a:t>
            </a:r>
          </a:p>
          <a:p>
            <a:pPr>
              <a:spcAft>
                <a:spcPts val="400"/>
              </a:spcAft>
              <a:defRPr sz="1100">
                <a:solidFill>
                  <a:srgbClr val="E2E8F0"/>
                </a:solidFill>
                <a:latin typeface="Segoe UI"/>
              </a:defRPr>
            </a:pPr>
            <a:r>
              <a:t>• Now Assist Platform Activation: Fluent skill config is written; in-scope grounded aggregator is active as the reliable fallback.</a:t>
            </a:r>
          </a:p>
          <a:p>
            <a:pPr>
              <a:spcAft>
                <a:spcPts val="400"/>
              </a:spcAft>
              <a:defRPr sz="1100">
                <a:solidFill>
                  <a:srgbClr val="E2E8F0"/>
                </a:solidFill>
                <a:latin typeface="Segoe UI"/>
              </a:defRPr>
            </a:pPr>
            <a:r>
              <a:t>• Strict Non-Clinical Scope: CareSetu never diagnoses illness, never recommends drug dosages, and never overrides physician authority.</a:t>
            </a:r>
          </a:p>
        </p:txBody>
      </p:sp>
      <p:sp>
        <p:nvSpPr>
          <p:cNvPr id="9" name="Rounded Rectangle 8"/>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TRANSPARENCY: </a:t>
            </a:r>
            <a:r>
              <a:rPr sz="1100">
                <a:solidFill>
                  <a:srgbClr val="E2E8F0"/>
                </a:solidFill>
                <a:latin typeface="Segoe UI"/>
              </a:rPr>
              <a:t>Engineering integrity: We explicitly document working capabilities vs. unconfigured external hospital integrations.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14B8A6"/>
                </a:solidFill>
                <a:latin typeface="Segoe UI"/>
              </a:defRPr>
            </a:pPr>
            <a:r>
              <a:t>IMPACT &amp; VISION</a:t>
            </a:r>
          </a:p>
        </p:txBody>
      </p:sp>
      <p:sp>
        <p:nvSpPr>
          <p:cNvPr id="3" name="TextBox 2"/>
          <p:cNvSpPr txBox="1"/>
          <p:nvPr/>
        </p:nvSpPr>
        <p:spPr>
          <a:xfrm>
            <a:off x="731520" y="685800"/>
            <a:ext cx="10698480" cy="502920"/>
          </a:xfrm>
          <a:prstGeom prst="rect">
            <a:avLst/>
          </a:prstGeom>
          <a:noFill/>
        </p:spPr>
        <p:txBody>
          <a:bodyPr wrap="square" lIns="0" tIns="0" rIns="0" bIns="0">
            <a:spAutoFit/>
          </a:bodyPr>
          <a:lstStyle/>
          <a:p>
            <a:pPr>
              <a:defRPr sz="2400" b="1">
                <a:solidFill>
                  <a:srgbClr val="FFFFFF"/>
                </a:solidFill>
                <a:latin typeface="Segoe UI"/>
              </a:defRPr>
            </a:pPr>
            <a:r>
              <a:t>Restoring Time to Patients and Beds</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300">
                <a:solidFill>
                  <a:srgbClr val="94A3B8"/>
                </a:solidFill>
                <a:latin typeface="Segoe UI"/>
              </a:defRPr>
            </a:pPr>
            <a:r>
              <a:t>The right care, in the right bed, at the right hour.</a:t>
            </a:r>
          </a:p>
        </p:txBody>
      </p:sp>
      <p:sp>
        <p:nvSpPr>
          <p:cNvPr id="5" name="Rounded Rectangle 4"/>
          <p:cNvSpPr/>
          <p:nvPr/>
        </p:nvSpPr>
        <p:spPr>
          <a:xfrm>
            <a:off x="731520" y="1828800"/>
            <a:ext cx="3291840" cy="393192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3566160"/>
          </a:xfrm>
          <a:prstGeom prst="rect">
            <a:avLst/>
          </a:prstGeom>
          <a:noFill/>
        </p:spPr>
        <p:txBody>
          <a:bodyPr wrap="square" lIns="0" tIns="0" rIns="0" bIns="0">
            <a:spAutoFit/>
          </a:bodyPr>
          <a:lstStyle/>
          <a:p>
            <a:pPr>
              <a:spcAft>
                <a:spcPts val="800"/>
              </a:spcAft>
              <a:defRPr sz="1400" b="1">
                <a:solidFill>
                  <a:srgbClr val="14B8A6"/>
                </a:solidFill>
                <a:latin typeface="Segoe UI"/>
              </a:defRPr>
            </a:pPr>
            <a:r>
              <a:t>Operational Impact</a:t>
            </a:r>
          </a:p>
          <a:p>
            <a:pPr>
              <a:spcAft>
                <a:spcPts val="400"/>
              </a:spcAft>
              <a:defRPr sz="1100">
                <a:solidFill>
                  <a:srgbClr val="E2E8F0"/>
                </a:solidFill>
                <a:latin typeface="Segoe UI"/>
              </a:defRPr>
            </a:pPr>
            <a:r>
              <a:t>• Target 45–60 minute reduction in average discharge turnaround time.</a:t>
            </a:r>
          </a:p>
          <a:p>
            <a:pPr>
              <a:spcAft>
                <a:spcPts val="400"/>
              </a:spcAft>
              <a:defRPr sz="1100">
                <a:solidFill>
                  <a:srgbClr val="E2E8F0"/>
                </a:solidFill>
                <a:latin typeface="Segoe UI"/>
              </a:defRPr>
            </a:pPr>
            <a:r>
              <a:t>• Unblocks ~1,000+ bed-hours per month in a 400-bed facility.</a:t>
            </a:r>
          </a:p>
          <a:p>
            <a:pPr>
              <a:spcAft>
                <a:spcPts val="400"/>
              </a:spcAft>
              <a:defRPr sz="1100">
                <a:solidFill>
                  <a:srgbClr val="E2E8F0"/>
                </a:solidFill>
                <a:latin typeface="Segoe UI"/>
              </a:defRPr>
            </a:pPr>
            <a:r>
              <a:t>• Reduces hallway boarding and emergency department gridlock.</a:t>
            </a:r>
          </a:p>
          <a:p>
            <a:pPr>
              <a:spcAft>
                <a:spcPts val="400"/>
              </a:spcAft>
              <a:defRPr sz="1100">
                <a:solidFill>
                  <a:srgbClr val="E2E8F0"/>
                </a:solidFill>
                <a:latin typeface="Segoe UI"/>
              </a:defRPr>
            </a:pPr>
            <a:r>
              <a:t>• Cuts nurse administrative chasing by an estimated 50%.</a:t>
            </a:r>
          </a:p>
        </p:txBody>
      </p:sp>
      <p:sp>
        <p:nvSpPr>
          <p:cNvPr id="7" name="Rounded Rectangle 6"/>
          <p:cNvSpPr/>
          <p:nvPr/>
        </p:nvSpPr>
        <p:spPr>
          <a:xfrm>
            <a:off x="4389120" y="1828800"/>
            <a:ext cx="329184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011680"/>
            <a:ext cx="2926080" cy="3566160"/>
          </a:xfrm>
          <a:prstGeom prst="rect">
            <a:avLst/>
          </a:prstGeom>
          <a:noFill/>
        </p:spPr>
        <p:txBody>
          <a:bodyPr wrap="square" lIns="0" tIns="0" rIns="0" bIns="0">
            <a:spAutoFit/>
          </a:bodyPr>
          <a:lstStyle/>
          <a:p>
            <a:pPr>
              <a:spcAft>
                <a:spcPts val="800"/>
              </a:spcAft>
              <a:defRPr sz="1400" b="1">
                <a:solidFill>
                  <a:srgbClr val="38BDF8"/>
                </a:solidFill>
                <a:latin typeface="Segoe UI"/>
              </a:defRPr>
            </a:pPr>
            <a:r>
              <a:t>Enterprise Healthcare Guardrails</a:t>
            </a:r>
          </a:p>
          <a:p>
            <a:pPr>
              <a:spcAft>
                <a:spcPts val="400"/>
              </a:spcAft>
              <a:defRPr sz="1100">
                <a:solidFill>
                  <a:srgbClr val="E2E8F0"/>
                </a:solidFill>
                <a:latin typeface="Segoe UI"/>
              </a:defRPr>
            </a:pPr>
            <a:r>
              <a:t>• Role-Based Access Control: admin, coordinator, and user segregation.</a:t>
            </a:r>
          </a:p>
          <a:p>
            <a:pPr>
              <a:spcAft>
                <a:spcPts val="400"/>
              </a:spcAft>
              <a:defRPr sz="1100">
                <a:solidFill>
                  <a:srgbClr val="E2E8F0"/>
                </a:solidFill>
                <a:latin typeface="Segoe UI"/>
              </a:defRPr>
            </a:pPr>
            <a:r>
              <a:t>• Human approval boundary: zero autonomous mutation.</a:t>
            </a:r>
          </a:p>
          <a:p>
            <a:pPr>
              <a:spcAft>
                <a:spcPts val="400"/>
              </a:spcAft>
              <a:defRPr sz="1100">
                <a:solidFill>
                  <a:srgbClr val="E2E8F0"/>
                </a:solidFill>
                <a:latin typeface="Segoe UI"/>
              </a:defRPr>
            </a:pPr>
            <a:r>
              <a:t>• Full idempotency &amp; audit logging on every action execution.</a:t>
            </a:r>
          </a:p>
          <a:p>
            <a:pPr>
              <a:spcAft>
                <a:spcPts val="400"/>
              </a:spcAft>
              <a:defRPr sz="1100">
                <a:solidFill>
                  <a:srgbClr val="E2E8F0"/>
                </a:solidFill>
                <a:latin typeface="Segoe UI"/>
              </a:defRPr>
            </a:pPr>
            <a:r>
              <a:t>• HIPAA &amp; synthetic testing: zero real patient PHI.</a:t>
            </a:r>
          </a:p>
        </p:txBody>
      </p:sp>
      <p:sp>
        <p:nvSpPr>
          <p:cNvPr id="9" name="Rounded Rectangle 8"/>
          <p:cNvSpPr/>
          <p:nvPr/>
        </p:nvSpPr>
        <p:spPr>
          <a:xfrm>
            <a:off x="8046720" y="1828800"/>
            <a:ext cx="3413455" cy="3931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011680"/>
            <a:ext cx="3047695" cy="3566160"/>
          </a:xfrm>
          <a:prstGeom prst="rect">
            <a:avLst/>
          </a:prstGeom>
          <a:noFill/>
        </p:spPr>
        <p:txBody>
          <a:bodyPr wrap="square" lIns="0" tIns="0" rIns="0" bIns="0">
            <a:spAutoFit/>
          </a:bodyPr>
          <a:lstStyle/>
          <a:p>
            <a:pPr>
              <a:spcAft>
                <a:spcPts val="800"/>
              </a:spcAft>
              <a:defRPr sz="1400" b="1">
                <a:solidFill>
                  <a:srgbClr val="F59E0B"/>
                </a:solidFill>
                <a:latin typeface="Segoe UI"/>
              </a:defRPr>
            </a:pPr>
            <a:r>
              <a:t>The Road Ahead</a:t>
            </a:r>
          </a:p>
          <a:p>
            <a:pPr>
              <a:spcAft>
                <a:spcPts val="400"/>
              </a:spcAft>
              <a:defRPr sz="1100">
                <a:solidFill>
                  <a:srgbClr val="E2E8F0"/>
                </a:solidFill>
                <a:latin typeface="Segoe UI"/>
              </a:defRPr>
            </a:pPr>
            <a:r>
              <a:t>• FHIR R4 &amp; HL7 v2 connectors for enterprise EHR synchronization.</a:t>
            </a:r>
          </a:p>
          <a:p>
            <a:pPr>
              <a:spcAft>
                <a:spcPts val="400"/>
              </a:spcAft>
              <a:defRPr sz="1100">
                <a:solidFill>
                  <a:srgbClr val="E2E8F0"/>
                </a:solidFill>
                <a:latin typeface="Segoe UI"/>
              </a:defRPr>
            </a:pPr>
            <a:r>
              <a:t>• External insurer portal webhooks for automated pre-auth confirmation.</a:t>
            </a:r>
          </a:p>
          <a:p>
            <a:pPr>
              <a:spcAft>
                <a:spcPts val="400"/>
              </a:spcAft>
              <a:defRPr sz="1100">
                <a:solidFill>
                  <a:srgbClr val="E2E8F0"/>
                </a:solidFill>
                <a:latin typeface="Segoe UI"/>
              </a:defRPr>
            </a:pPr>
            <a:r>
              <a:t>• Multi-hospital network capacity balancing across regional health systems.</a:t>
            </a:r>
          </a:p>
          <a:p>
            <a:pPr>
              <a:spcAft>
                <a:spcPts val="400"/>
              </a:spcAft>
              <a:defRPr sz="1100">
                <a:solidFill>
                  <a:srgbClr val="E2E8F0"/>
                </a:solidFill>
                <a:latin typeface="Segoe UI"/>
              </a:defRPr>
            </a:pPr>
            <a:r>
              <a:t>• Native Now Assist GenAI activation for ambient ward briefing.</a:t>
            </a:r>
          </a:p>
        </p:txBody>
      </p:sp>
      <p:sp>
        <p:nvSpPr>
          <p:cNvPr id="11" name="Rounded Rectangle 10"/>
          <p:cNvSpPr/>
          <p:nvPr/>
        </p:nvSpPr>
        <p:spPr>
          <a:xfrm>
            <a:off x="731520" y="6035040"/>
            <a:ext cx="10728655"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6080760"/>
            <a:ext cx="10362895" cy="411480"/>
          </a:xfrm>
          <a:prstGeom prst="rect">
            <a:avLst/>
          </a:prstGeom>
          <a:noFill/>
        </p:spPr>
        <p:txBody>
          <a:bodyPr wrap="square" lIns="0" tIns="0" rIns="0" bIns="0">
            <a:spAutoFit/>
          </a:bodyPr>
          <a:lstStyle/>
          <a:p>
            <a:r>
              <a:rPr sz="1100" b="1">
                <a:solidFill>
                  <a:srgbClr val="38BDF8"/>
                </a:solidFill>
                <a:latin typeface="Segoe UI"/>
              </a:rPr>
              <a:t>THE MISSION: </a:t>
            </a:r>
            <a:r>
              <a:rPr sz="1100">
                <a:solidFill>
                  <a:srgbClr val="E2E8F0"/>
                </a:solidFill>
                <a:latin typeface="Segoe UI"/>
              </a:rPr>
              <a:t>When hospitals run on connected operational workflows, patients like Nanaji go home the hour they are healed — not hours later.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